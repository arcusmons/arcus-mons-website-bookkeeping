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60" r:id="rId5"/>
    <p:sldId id="261" r:id="rId6"/>
    <p:sldId id="262" r:id="rId7"/>
    <p:sldId id="263" r:id="rId8"/>
    <p:sldId id="268" r:id="rId9"/>
    <p:sldId id="267" r:id="rId10"/>
    <p:sldId id="271" r:id="rId11"/>
    <p:sldId id="270" r:id="rId12"/>
    <p:sldId id="272"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40" autoAdjust="0"/>
  </p:normalViewPr>
  <p:slideViewPr>
    <p:cSldViewPr snapToGrid="0" snapToObjects="1">
      <p:cViewPr varScale="1">
        <p:scale>
          <a:sx n="80" d="100"/>
          <a:sy n="80" d="100"/>
        </p:scale>
        <p:origin x="132" y="16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3390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these before they are asked. A security buyer trusts the vendor who names the limits of the product.
Never claim the system makes them compliant, and never claim it removes the duty to check output. Both claims are false and a lawyer will catch them immediately.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your actual timeline to this slide before presenting — most buyers ask "how long?" within a minute of seeing it.
Step four is where you separate yourself from a hardware reseller. Training and the written policy are what a managing partner is actually buying.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A43"/>
        </a:solidFill>
        <a:effectLst/>
      </p:bgPr>
    </p:bg>
    <p:spTree>
      <p:nvGrpSpPr>
        <p:cNvPr id="1" name=""/>
        <p:cNvGrpSpPr/>
        <p:nvPr/>
      </p:nvGrpSpPr>
      <p:grpSpPr>
        <a:xfrm>
          <a:off x="0" y="0"/>
          <a:ext cx="0" cy="0"/>
          <a:chOff x="0" y="0"/>
          <a:chExt cx="0" cy="0"/>
        </a:xfrm>
      </p:grpSpPr>
      <p:sp>
        <p:nvSpPr>
          <p:cNvPr id="2" name="Text 0"/>
          <p:cNvSpPr/>
          <p:nvPr/>
        </p:nvSpPr>
        <p:spPr>
          <a:xfrm>
            <a:off x="640080" y="1938528"/>
            <a:ext cx="7452360" cy="749808"/>
          </a:xfrm>
          <a:prstGeom prst="rect">
            <a:avLst/>
          </a:prstGeom>
          <a:noFill/>
          <a:ln/>
        </p:spPr>
        <p:txBody>
          <a:bodyPr wrap="square" lIns="0" tIns="0" rIns="0" bIns="0" rtlCol="0" anchor="ctr"/>
          <a:lstStyle/>
          <a:p>
            <a:pPr marL="0" indent="0">
              <a:buNone/>
            </a:pPr>
            <a:r>
              <a:rPr lang="en-US" sz="3900" b="1" dirty="0">
                <a:solidFill>
                  <a:srgbClr val="FFFFFF"/>
                </a:solidFill>
                <a:latin typeface="Cambria" pitchFamily="34" charset="0"/>
                <a:ea typeface="Cambria" pitchFamily="34" charset="-122"/>
                <a:cs typeface="Cambria" pitchFamily="34" charset="-120"/>
              </a:rPr>
              <a:t>Your firm’s own AI.</a:t>
            </a:r>
            <a:endParaRPr lang="en-US" sz="3900" dirty="0"/>
          </a:p>
        </p:txBody>
      </p:sp>
      <p:sp>
        <p:nvSpPr>
          <p:cNvPr id="3" name="Text 1"/>
          <p:cNvSpPr/>
          <p:nvPr/>
        </p:nvSpPr>
        <p:spPr>
          <a:xfrm>
            <a:off x="640080" y="2633472"/>
            <a:ext cx="7452360" cy="749808"/>
          </a:xfrm>
          <a:prstGeom prst="rect">
            <a:avLst/>
          </a:prstGeom>
          <a:noFill/>
          <a:ln/>
        </p:spPr>
        <p:txBody>
          <a:bodyPr wrap="square" lIns="0" tIns="0" rIns="0" bIns="0" rtlCol="0" anchor="ctr"/>
          <a:lstStyle/>
          <a:p>
            <a:pPr marL="0" indent="0">
              <a:buNone/>
            </a:pPr>
            <a:r>
              <a:rPr lang="en-US" sz="3900" b="1" dirty="0">
                <a:solidFill>
                  <a:srgbClr val="9DBEDE"/>
                </a:solidFill>
                <a:latin typeface="Cambria" pitchFamily="34" charset="0"/>
                <a:ea typeface="Cambria" pitchFamily="34" charset="-122"/>
                <a:cs typeface="Cambria" pitchFamily="34" charset="-120"/>
              </a:rPr>
              <a:t>Nothing leaves the building.</a:t>
            </a:r>
            <a:endParaRPr lang="en-US" sz="3900" dirty="0"/>
          </a:p>
        </p:txBody>
      </p:sp>
      <p:sp>
        <p:nvSpPr>
          <p:cNvPr id="4" name="Text 2"/>
          <p:cNvSpPr/>
          <p:nvPr/>
        </p:nvSpPr>
        <p:spPr>
          <a:xfrm>
            <a:off x="640080" y="3703320"/>
            <a:ext cx="6858000" cy="914400"/>
          </a:xfrm>
          <a:prstGeom prst="rect">
            <a:avLst/>
          </a:prstGeom>
          <a:noFill/>
          <a:ln/>
        </p:spPr>
        <p:txBody>
          <a:bodyPr wrap="square" lIns="0" tIns="0" rIns="0" bIns="0" rtlCol="0" anchor="ctr"/>
          <a:lstStyle/>
          <a:p>
            <a:pPr marL="0" indent="0">
              <a:lnSpc>
                <a:spcPct val="120000"/>
              </a:lnSpc>
              <a:buNone/>
            </a:pPr>
            <a:r>
              <a:rPr lang="en-US" sz="1550" dirty="0">
                <a:solidFill>
                  <a:srgbClr val="A9B8C7"/>
                </a:solidFill>
                <a:latin typeface="Calibri" pitchFamily="34" charset="0"/>
                <a:ea typeface="Calibri" pitchFamily="34" charset="-122"/>
                <a:cs typeface="Calibri" pitchFamily="34" charset="-120"/>
              </a:rPr>
              <a:t>Private, on-premises AI for firms. We buy the hardware, build it, configure it around the way you already work, and hand you the keys.</a:t>
            </a:r>
            <a:endParaRPr lang="en-US" sz="1550" dirty="0"/>
          </a:p>
        </p:txBody>
      </p:sp>
      <p:sp>
        <p:nvSpPr>
          <p:cNvPr id="5" name="Text 3"/>
          <p:cNvSpPr/>
          <p:nvPr/>
        </p:nvSpPr>
        <p:spPr>
          <a:xfrm>
            <a:off x="640080" y="5943600"/>
            <a:ext cx="8229600" cy="274320"/>
          </a:xfrm>
          <a:prstGeom prst="rect">
            <a:avLst/>
          </a:prstGeom>
          <a:noFill/>
          <a:ln/>
        </p:spPr>
        <p:txBody>
          <a:bodyPr wrap="square" lIns="0" tIns="0" rIns="0" bIns="0" rtlCol="0" anchor="ctr"/>
          <a:lstStyle/>
          <a:p>
            <a:pPr marL="0" indent="0">
              <a:buNone/>
            </a:pPr>
            <a:r>
              <a:rPr lang="en-US" sz="1100" b="1" kern="0" spc="250" dirty="0">
                <a:solidFill>
                  <a:srgbClr val="8FB4D6"/>
                </a:solidFill>
                <a:latin typeface="Calibri" pitchFamily="34" charset="0"/>
                <a:ea typeface="Calibri" pitchFamily="34" charset="-122"/>
                <a:cs typeface="Calibri" pitchFamily="34" charset="-120"/>
              </a:rPr>
              <a:t>HARDWARE  ·  BUILD  ·  CONFIGURATION  ·  TRAINING  ·  SUPPORT</a:t>
            </a:r>
            <a:endParaRPr lang="en-US" sz="1100" dirty="0"/>
          </a:p>
        </p:txBody>
      </p:sp>
      <p:sp>
        <p:nvSpPr>
          <p:cNvPr id="6" name="Shape 4"/>
          <p:cNvSpPr/>
          <p:nvPr/>
        </p:nvSpPr>
        <p:spPr>
          <a:xfrm>
            <a:off x="8183880" y="1572768"/>
            <a:ext cx="3383280" cy="3584448"/>
          </a:xfrm>
          <a:prstGeom prst="roundRect">
            <a:avLst>
              <a:gd name="adj" fmla="val 3784"/>
            </a:avLst>
          </a:prstGeom>
          <a:solidFill>
            <a:srgbClr val="FAF7EF"/>
          </a:solidFill>
          <a:ln w="6350">
            <a:solidFill>
              <a:srgbClr val="FAF7EF"/>
            </a:solidFill>
            <a:prstDash val="solid"/>
          </a:ln>
        </p:spPr>
      </p:sp>
      <p:pic>
        <p:nvPicPr>
          <p:cNvPr id="7" name="Image 0" descr="logo_ink.png"/>
          <p:cNvPicPr>
            <a:picLocks noChangeAspect="1"/>
          </p:cNvPicPr>
          <p:nvPr/>
        </p:nvPicPr>
        <p:blipFill>
          <a:blip r:embed="rId3"/>
          <a:stretch>
            <a:fillRect/>
          </a:stretch>
        </p:blipFill>
        <p:spPr>
          <a:xfrm>
            <a:off x="8531352" y="1901952"/>
            <a:ext cx="2683901" cy="2148840"/>
          </a:xfrm>
          <a:prstGeom prst="rect">
            <a:avLst/>
          </a:prstGeom>
        </p:spPr>
      </p:pic>
      <p:sp>
        <p:nvSpPr>
          <p:cNvPr id="8" name="Text 5"/>
          <p:cNvSpPr/>
          <p:nvPr/>
        </p:nvSpPr>
        <p:spPr>
          <a:xfrm>
            <a:off x="8183880" y="4407408"/>
            <a:ext cx="3383280" cy="365760"/>
          </a:xfrm>
          <a:prstGeom prst="rect">
            <a:avLst/>
          </a:prstGeom>
          <a:noFill/>
          <a:ln/>
        </p:spPr>
        <p:txBody>
          <a:bodyPr wrap="square" lIns="0" tIns="0" rIns="0" bIns="0" rtlCol="0" anchor="ctr"/>
          <a:lstStyle/>
          <a:p>
            <a:pPr marL="0" indent="0" algn="ctr">
              <a:buNone/>
            </a:pPr>
            <a:r>
              <a:rPr lang="en-US" sz="1600" b="1" kern="0" spc="600" dirty="0">
                <a:solidFill>
                  <a:srgbClr val="102A43"/>
                </a:solidFill>
                <a:latin typeface="Cambria" pitchFamily="34" charset="0"/>
                <a:ea typeface="Cambria" pitchFamily="34" charset="-122"/>
                <a:cs typeface="Cambria" pitchFamily="34" charset="-120"/>
              </a:rPr>
              <a:t>ARCUS MONS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EF"/>
        </a:solidFill>
        <a:effectLst/>
      </p:bgPr>
    </p:bg>
    <p:spTree>
      <p:nvGrpSpPr>
        <p:cNvPr id="1" name=""/>
        <p:cNvGrpSpPr/>
        <p:nvPr/>
      </p:nvGrpSpPr>
      <p:grpSpPr>
        <a:xfrm>
          <a:off x="0" y="0"/>
          <a:ext cx="0" cy="0"/>
          <a:chOff x="0" y="0"/>
          <a:chExt cx="0" cy="0"/>
        </a:xfrm>
      </p:grpSpPr>
      <p:pic>
        <p:nvPicPr>
          <p:cNvPr id="2" name="Image 0" descr="logo_ink.png"/>
          <p:cNvPicPr>
            <a:picLocks noChangeAspect="1"/>
          </p:cNvPicPr>
          <p:nvPr/>
        </p:nvPicPr>
        <p:blipFill>
          <a:blip r:embed="rId3"/>
          <a:stretch>
            <a:fillRect/>
          </a:stretch>
        </p:blipFill>
        <p:spPr>
          <a:xfrm>
            <a:off x="10893000" y="438912"/>
            <a:ext cx="525359" cy="420624"/>
          </a:xfrm>
          <a:prstGeom prst="rect">
            <a:avLst/>
          </a:prstGeom>
        </p:spPr>
      </p:pic>
      <p:sp>
        <p:nvSpPr>
          <p:cNvPr id="3" name="Text 0"/>
          <p:cNvSpPr/>
          <p:nvPr/>
        </p:nvSpPr>
        <p:spPr>
          <a:xfrm>
            <a:off x="640080" y="566928"/>
            <a:ext cx="10908792" cy="256032"/>
          </a:xfrm>
          <a:prstGeom prst="rect">
            <a:avLst/>
          </a:prstGeom>
          <a:noFill/>
          <a:ln/>
        </p:spPr>
        <p:txBody>
          <a:bodyPr wrap="square" lIns="0" tIns="0" rIns="0" bIns="0" rtlCol="0" anchor="ctr"/>
          <a:lstStyle/>
          <a:p>
            <a:pPr marL="0" indent="0">
              <a:buNone/>
            </a:pPr>
            <a:r>
              <a:rPr lang="en-US" sz="1100" b="1" kern="0" spc="300" dirty="0">
                <a:solidFill>
                  <a:srgbClr val="2F5F87"/>
                </a:solidFill>
                <a:latin typeface="Calibri" pitchFamily="34" charset="0"/>
                <a:ea typeface="Calibri" pitchFamily="34" charset="-122"/>
                <a:cs typeface="Calibri" pitchFamily="34" charset="-120"/>
              </a:rPr>
              <a:t>WHERE THIS STARTS</a:t>
            </a:r>
            <a:endParaRPr lang="en-US" sz="1100" dirty="0"/>
          </a:p>
        </p:txBody>
      </p:sp>
      <p:sp>
        <p:nvSpPr>
          <p:cNvPr id="4" name="Text 1"/>
          <p:cNvSpPr/>
          <p:nvPr/>
        </p:nvSpPr>
        <p:spPr>
          <a:xfrm>
            <a:off x="640080" y="960120"/>
            <a:ext cx="9875520" cy="822960"/>
          </a:xfrm>
          <a:prstGeom prst="rect">
            <a:avLst/>
          </a:prstGeom>
          <a:noFill/>
          <a:ln/>
        </p:spPr>
        <p:txBody>
          <a:bodyPr wrap="square" lIns="0" tIns="0" rIns="0" bIns="0" rtlCol="0" anchor="t"/>
          <a:lstStyle/>
          <a:p>
            <a:pPr marL="0" indent="0">
              <a:lnSpc>
                <a:spcPct val="102000"/>
              </a:lnSpc>
              <a:buNone/>
            </a:pPr>
            <a:r>
              <a:rPr lang="en-US" sz="3600" b="1" dirty="0">
                <a:solidFill>
                  <a:srgbClr val="102A43"/>
                </a:solidFill>
                <a:latin typeface="Cambria" pitchFamily="34" charset="0"/>
                <a:ea typeface="Cambria" pitchFamily="34" charset="-122"/>
                <a:cs typeface="Cambria" pitchFamily="34" charset="-120"/>
              </a:rPr>
              <a:t>AI is already inside your firm</a:t>
            </a:r>
            <a:endParaRPr lang="en-US" sz="3600" dirty="0"/>
          </a:p>
        </p:txBody>
      </p:sp>
      <p:sp>
        <p:nvSpPr>
          <p:cNvPr id="5" name="Text 2"/>
          <p:cNvSpPr/>
          <p:nvPr/>
        </p:nvSpPr>
        <p:spPr>
          <a:xfrm>
            <a:off x="640080" y="1993392"/>
            <a:ext cx="9692640" cy="640080"/>
          </a:xfrm>
          <a:prstGeom prst="rect">
            <a:avLst/>
          </a:prstGeom>
          <a:noFill/>
          <a:ln/>
        </p:spPr>
        <p:txBody>
          <a:bodyPr wrap="square" lIns="0" tIns="0" rIns="0" bIns="0" rtlCol="0" anchor="ctr"/>
          <a:lstStyle/>
          <a:p>
            <a:pPr marL="0" indent="0">
              <a:lnSpc>
                <a:spcPct val="115000"/>
              </a:lnSpc>
              <a:buNone/>
            </a:pPr>
            <a:r>
              <a:rPr lang="en-US" sz="1500" dirty="0">
                <a:solidFill>
                  <a:srgbClr val="55606C"/>
                </a:solidFill>
                <a:latin typeface="Calibri" pitchFamily="34" charset="0"/>
                <a:ea typeface="Calibri" pitchFamily="34" charset="-122"/>
                <a:cs typeface="Calibri" pitchFamily="34" charset="-120"/>
              </a:rPr>
              <a:t>That decision has already been made — by your associates, your paralegals and your assistants. The open question is whose computer your client files sit on when it happens.</a:t>
            </a:r>
            <a:endParaRPr lang="en-US" sz="1500" dirty="0"/>
          </a:p>
        </p:txBody>
      </p:sp>
      <p:sp>
        <p:nvSpPr>
          <p:cNvPr id="6" name="Shape 3"/>
          <p:cNvSpPr/>
          <p:nvPr/>
        </p:nvSpPr>
        <p:spPr>
          <a:xfrm>
            <a:off x="640080" y="2971800"/>
            <a:ext cx="3383280" cy="2286000"/>
          </a:xfrm>
          <a:prstGeom prst="roundRect">
            <a:avLst>
              <a:gd name="adj" fmla="val 3200"/>
            </a:avLst>
          </a:prstGeom>
          <a:solidFill>
            <a:srgbClr val="FFFFFF"/>
          </a:solidFill>
          <a:ln w="9525">
            <a:solidFill>
              <a:srgbClr val="DDD8CB"/>
            </a:solidFill>
            <a:prstDash val="solid"/>
          </a:ln>
          <a:effectLst>
            <a:outerShdw blurRad="127000" dist="25400" dir="5400000" algn="bl" rotWithShape="0">
              <a:srgbClr val="000000">
                <a:alpha val="9000"/>
              </a:srgbClr>
            </a:outerShdw>
          </a:effectLst>
        </p:spPr>
        <p:txBody>
          <a:bodyPr/>
          <a:lstStyle/>
          <a:p>
            <a:endParaRPr lang="en-US" dirty="0"/>
          </a:p>
        </p:txBody>
      </p:sp>
      <p:sp>
        <p:nvSpPr>
          <p:cNvPr id="7" name="Text 4"/>
          <p:cNvSpPr/>
          <p:nvPr/>
        </p:nvSpPr>
        <p:spPr>
          <a:xfrm>
            <a:off x="914400" y="3154680"/>
            <a:ext cx="2834640" cy="868680"/>
          </a:xfrm>
          <a:prstGeom prst="rect">
            <a:avLst/>
          </a:prstGeom>
          <a:noFill/>
          <a:ln/>
        </p:spPr>
        <p:txBody>
          <a:bodyPr wrap="square" lIns="0" tIns="0" rIns="0" bIns="0" rtlCol="0" anchor="ctr"/>
          <a:lstStyle/>
          <a:p>
            <a:pPr marL="0" indent="0">
              <a:buNone/>
            </a:pPr>
            <a:r>
              <a:rPr lang="en-US" sz="5200" b="1" dirty="0">
                <a:solidFill>
                  <a:srgbClr val="2F5F87"/>
                </a:solidFill>
                <a:latin typeface="Cambria" pitchFamily="34" charset="0"/>
                <a:ea typeface="Cambria" pitchFamily="34" charset="-122"/>
                <a:cs typeface="Cambria" pitchFamily="34" charset="-120"/>
              </a:rPr>
              <a:t>78%</a:t>
            </a:r>
            <a:endParaRPr lang="en-US" sz="5200" dirty="0"/>
          </a:p>
        </p:txBody>
      </p:sp>
      <p:sp>
        <p:nvSpPr>
          <p:cNvPr id="8" name="Text 5"/>
          <p:cNvSpPr/>
          <p:nvPr/>
        </p:nvSpPr>
        <p:spPr>
          <a:xfrm>
            <a:off x="914400" y="4041648"/>
            <a:ext cx="2834640" cy="868680"/>
          </a:xfrm>
          <a:prstGeom prst="rect">
            <a:avLst/>
          </a:prstGeom>
          <a:noFill/>
          <a:ln/>
        </p:spPr>
        <p:txBody>
          <a:bodyPr wrap="square" lIns="0" tIns="0" rIns="0" bIns="0" rtlCol="0" anchor="t"/>
          <a:lstStyle/>
          <a:p>
            <a:pPr marL="0" indent="0">
              <a:lnSpc>
                <a:spcPct val="115000"/>
              </a:lnSpc>
              <a:buNone/>
            </a:pPr>
            <a:r>
              <a:rPr lang="en-US" sz="1350" dirty="0">
                <a:solidFill>
                  <a:srgbClr val="102A43"/>
                </a:solidFill>
                <a:latin typeface="Calibri" pitchFamily="34" charset="0"/>
                <a:ea typeface="Calibri" pitchFamily="34" charset="-122"/>
                <a:cs typeface="Calibri" pitchFamily="34" charset="-120"/>
              </a:rPr>
              <a:t>of employees say they use unapproved AI tools</a:t>
            </a:r>
            <a:endParaRPr lang="en-US" sz="1350" dirty="0"/>
          </a:p>
        </p:txBody>
      </p:sp>
      <p:sp>
        <p:nvSpPr>
          <p:cNvPr id="9" name="Text 6"/>
          <p:cNvSpPr/>
          <p:nvPr/>
        </p:nvSpPr>
        <p:spPr>
          <a:xfrm>
            <a:off x="914400" y="4937760"/>
            <a:ext cx="2834640" cy="274320"/>
          </a:xfrm>
          <a:prstGeom prst="rect">
            <a:avLst/>
          </a:prstGeom>
          <a:noFill/>
          <a:ln/>
        </p:spPr>
        <p:txBody>
          <a:bodyPr wrap="square" lIns="0" tIns="0" rIns="0" bIns="0" rtlCol="0" anchor="ctr"/>
          <a:lstStyle/>
          <a:p>
            <a:pPr marL="0" indent="0">
              <a:buNone/>
            </a:pPr>
            <a:r>
              <a:rPr lang="en-US" sz="900" dirty="0">
                <a:solidFill>
                  <a:srgbClr val="55606C"/>
                </a:solidFill>
                <a:latin typeface="Calibri" pitchFamily="34" charset="0"/>
                <a:ea typeface="Calibri" pitchFamily="34" charset="-122"/>
                <a:cs typeface="Calibri" pitchFamily="34" charset="-120"/>
              </a:rPr>
              <a:t>WalkMe / SAP, AI in the Workplace Survey, 2025</a:t>
            </a:r>
            <a:endParaRPr lang="en-US" sz="900" dirty="0"/>
          </a:p>
        </p:txBody>
      </p:sp>
      <p:sp>
        <p:nvSpPr>
          <p:cNvPr id="10" name="Shape 7"/>
          <p:cNvSpPr/>
          <p:nvPr/>
        </p:nvSpPr>
        <p:spPr>
          <a:xfrm>
            <a:off x="4407408" y="2971800"/>
            <a:ext cx="3383280" cy="2286000"/>
          </a:xfrm>
          <a:prstGeom prst="roundRect">
            <a:avLst>
              <a:gd name="adj" fmla="val 3200"/>
            </a:avLst>
          </a:prstGeom>
          <a:solidFill>
            <a:srgbClr val="FFFFFF"/>
          </a:solidFill>
          <a:ln w="9525">
            <a:solidFill>
              <a:srgbClr val="DDD8CB"/>
            </a:solidFill>
            <a:prstDash val="solid"/>
          </a:ln>
          <a:effectLst>
            <a:outerShdw blurRad="127000" dist="25400" dir="5400000" algn="bl" rotWithShape="0">
              <a:srgbClr val="000000">
                <a:alpha val="9000"/>
              </a:srgbClr>
            </a:outerShdw>
          </a:effectLst>
        </p:spPr>
      </p:sp>
      <p:sp>
        <p:nvSpPr>
          <p:cNvPr id="11" name="Text 8"/>
          <p:cNvSpPr/>
          <p:nvPr/>
        </p:nvSpPr>
        <p:spPr>
          <a:xfrm>
            <a:off x="4681728" y="3154680"/>
            <a:ext cx="2834640" cy="868680"/>
          </a:xfrm>
          <a:prstGeom prst="rect">
            <a:avLst/>
          </a:prstGeom>
          <a:noFill/>
          <a:ln/>
        </p:spPr>
        <p:txBody>
          <a:bodyPr wrap="square" lIns="0" tIns="0" rIns="0" bIns="0" rtlCol="0" anchor="ctr"/>
          <a:lstStyle/>
          <a:p>
            <a:pPr marL="0" indent="0">
              <a:buNone/>
            </a:pPr>
            <a:r>
              <a:rPr lang="en-US" sz="5200" b="1" dirty="0">
                <a:solidFill>
                  <a:srgbClr val="2F5F87"/>
                </a:solidFill>
                <a:latin typeface="Cambria" pitchFamily="34" charset="0"/>
                <a:ea typeface="Cambria" pitchFamily="34" charset="-122"/>
                <a:cs typeface="Cambria" pitchFamily="34" charset="-120"/>
              </a:rPr>
              <a:t>79%</a:t>
            </a:r>
            <a:endParaRPr lang="en-US" sz="5200" dirty="0"/>
          </a:p>
        </p:txBody>
      </p:sp>
      <p:sp>
        <p:nvSpPr>
          <p:cNvPr id="12" name="Text 9"/>
          <p:cNvSpPr/>
          <p:nvPr/>
        </p:nvSpPr>
        <p:spPr>
          <a:xfrm>
            <a:off x="4681728" y="4041648"/>
            <a:ext cx="2834640" cy="868680"/>
          </a:xfrm>
          <a:prstGeom prst="rect">
            <a:avLst/>
          </a:prstGeom>
          <a:noFill/>
          <a:ln/>
        </p:spPr>
        <p:txBody>
          <a:bodyPr wrap="square" lIns="0" tIns="0" rIns="0" bIns="0" rtlCol="0" anchor="t"/>
          <a:lstStyle/>
          <a:p>
            <a:pPr marL="0" indent="0">
              <a:lnSpc>
                <a:spcPct val="115000"/>
              </a:lnSpc>
              <a:buNone/>
            </a:pPr>
            <a:r>
              <a:rPr lang="en-US" sz="1350" dirty="0">
                <a:solidFill>
                  <a:srgbClr val="102A43"/>
                </a:solidFill>
                <a:latin typeface="Calibri" pitchFamily="34" charset="0"/>
                <a:ea typeface="Calibri" pitchFamily="34" charset="-122"/>
                <a:cs typeface="Calibri" pitchFamily="34" charset="-120"/>
              </a:rPr>
              <a:t>of legal professionals report using AI tools — while 44% of firms have no AI policy at all</a:t>
            </a:r>
            <a:endParaRPr lang="en-US" sz="1350" dirty="0"/>
          </a:p>
        </p:txBody>
      </p:sp>
      <p:sp>
        <p:nvSpPr>
          <p:cNvPr id="13" name="Text 10"/>
          <p:cNvSpPr/>
          <p:nvPr/>
        </p:nvSpPr>
        <p:spPr>
          <a:xfrm>
            <a:off x="4681728" y="4937760"/>
            <a:ext cx="2834640" cy="274320"/>
          </a:xfrm>
          <a:prstGeom prst="rect">
            <a:avLst/>
          </a:prstGeom>
          <a:noFill/>
          <a:ln/>
        </p:spPr>
        <p:txBody>
          <a:bodyPr wrap="square" lIns="0" tIns="0" rIns="0" bIns="0" rtlCol="0" anchor="ctr"/>
          <a:lstStyle/>
          <a:p>
            <a:pPr marL="0" indent="0">
              <a:buNone/>
            </a:pPr>
            <a:r>
              <a:rPr lang="en-US" sz="900" dirty="0">
                <a:solidFill>
                  <a:srgbClr val="55606C"/>
                </a:solidFill>
                <a:latin typeface="Calibri" pitchFamily="34" charset="0"/>
                <a:ea typeface="Calibri" pitchFamily="34" charset="-122"/>
                <a:cs typeface="Calibri" pitchFamily="34" charset="-120"/>
              </a:rPr>
              <a:t>Clio Legal Trends, cited by the NC Bar Association, 2026</a:t>
            </a:r>
            <a:endParaRPr lang="en-US" sz="900" dirty="0"/>
          </a:p>
        </p:txBody>
      </p:sp>
      <p:sp>
        <p:nvSpPr>
          <p:cNvPr id="14" name="Shape 11"/>
          <p:cNvSpPr/>
          <p:nvPr/>
        </p:nvSpPr>
        <p:spPr>
          <a:xfrm>
            <a:off x="8174736" y="2971800"/>
            <a:ext cx="3383280" cy="2286000"/>
          </a:xfrm>
          <a:prstGeom prst="roundRect">
            <a:avLst>
              <a:gd name="adj" fmla="val 3200"/>
            </a:avLst>
          </a:prstGeom>
          <a:solidFill>
            <a:srgbClr val="FFFFFF"/>
          </a:solidFill>
          <a:ln w="9525">
            <a:solidFill>
              <a:srgbClr val="DDD8CB"/>
            </a:solidFill>
            <a:prstDash val="solid"/>
          </a:ln>
          <a:effectLst>
            <a:outerShdw blurRad="127000" dist="25400" dir="5400000" algn="bl" rotWithShape="0">
              <a:srgbClr val="000000">
                <a:alpha val="9000"/>
              </a:srgbClr>
            </a:outerShdw>
          </a:effectLst>
        </p:spPr>
      </p:sp>
      <p:sp>
        <p:nvSpPr>
          <p:cNvPr id="15" name="Text 12"/>
          <p:cNvSpPr/>
          <p:nvPr/>
        </p:nvSpPr>
        <p:spPr>
          <a:xfrm>
            <a:off x="8449056" y="3154680"/>
            <a:ext cx="2834640" cy="868680"/>
          </a:xfrm>
          <a:prstGeom prst="rect">
            <a:avLst/>
          </a:prstGeom>
          <a:noFill/>
          <a:ln/>
        </p:spPr>
        <p:txBody>
          <a:bodyPr wrap="square" lIns="0" tIns="0" rIns="0" bIns="0" rtlCol="0" anchor="ctr"/>
          <a:lstStyle/>
          <a:p>
            <a:pPr marL="0" indent="0">
              <a:buNone/>
            </a:pPr>
            <a:r>
              <a:rPr lang="en-US" sz="5200" b="1" dirty="0">
                <a:solidFill>
                  <a:srgbClr val="2F5F87"/>
                </a:solidFill>
                <a:latin typeface="Cambria" pitchFamily="34" charset="0"/>
                <a:ea typeface="Cambria" pitchFamily="34" charset="-122"/>
                <a:cs typeface="Cambria" pitchFamily="34" charset="-120"/>
              </a:rPr>
              <a:t>11%</a:t>
            </a:r>
            <a:endParaRPr lang="en-US" sz="5200" dirty="0"/>
          </a:p>
        </p:txBody>
      </p:sp>
      <p:sp>
        <p:nvSpPr>
          <p:cNvPr id="16" name="Text 13"/>
          <p:cNvSpPr/>
          <p:nvPr/>
        </p:nvSpPr>
        <p:spPr>
          <a:xfrm>
            <a:off x="8449056" y="4041648"/>
            <a:ext cx="2834640" cy="868680"/>
          </a:xfrm>
          <a:prstGeom prst="rect">
            <a:avLst/>
          </a:prstGeom>
          <a:noFill/>
          <a:ln/>
        </p:spPr>
        <p:txBody>
          <a:bodyPr wrap="square" lIns="0" tIns="0" rIns="0" bIns="0" rtlCol="0" anchor="t"/>
          <a:lstStyle/>
          <a:p>
            <a:pPr marL="0" indent="0">
              <a:lnSpc>
                <a:spcPct val="115000"/>
              </a:lnSpc>
              <a:buNone/>
            </a:pPr>
            <a:r>
              <a:rPr lang="en-US" sz="1350" dirty="0">
                <a:solidFill>
                  <a:srgbClr val="102A43"/>
                </a:solidFill>
                <a:latin typeface="Calibri" pitchFamily="34" charset="0"/>
                <a:ea typeface="Calibri" pitchFamily="34" charset="-122"/>
                <a:cs typeface="Calibri" pitchFamily="34" charset="-120"/>
              </a:rPr>
              <a:t>of everything employees paste into AI tools is sensitive material</a:t>
            </a:r>
            <a:endParaRPr lang="en-US" sz="1350" dirty="0"/>
          </a:p>
        </p:txBody>
      </p:sp>
      <p:sp>
        <p:nvSpPr>
          <p:cNvPr id="17" name="Text 14"/>
          <p:cNvSpPr/>
          <p:nvPr/>
        </p:nvSpPr>
        <p:spPr>
          <a:xfrm>
            <a:off x="8449056" y="4937760"/>
            <a:ext cx="2834640" cy="274320"/>
          </a:xfrm>
          <a:prstGeom prst="rect">
            <a:avLst/>
          </a:prstGeom>
          <a:noFill/>
          <a:ln/>
        </p:spPr>
        <p:txBody>
          <a:bodyPr wrap="square" lIns="0" tIns="0" rIns="0" bIns="0" rtlCol="0" anchor="ctr"/>
          <a:lstStyle/>
          <a:p>
            <a:pPr marL="0" indent="0">
              <a:buNone/>
            </a:pPr>
            <a:r>
              <a:rPr lang="en-US" sz="900" dirty="0">
                <a:solidFill>
                  <a:srgbClr val="55606C"/>
                </a:solidFill>
                <a:latin typeface="Calibri" pitchFamily="34" charset="0"/>
                <a:ea typeface="Calibri" pitchFamily="34" charset="-122"/>
                <a:cs typeface="Calibri" pitchFamily="34" charset="-120"/>
              </a:rPr>
              <a:t>Cyberhaven, 2026</a:t>
            </a:r>
            <a:endParaRPr lang="en-US" sz="900" dirty="0"/>
          </a:p>
        </p:txBody>
      </p:sp>
      <p:sp>
        <p:nvSpPr>
          <p:cNvPr id="18" name="Text 15"/>
          <p:cNvSpPr/>
          <p:nvPr/>
        </p:nvSpPr>
        <p:spPr>
          <a:xfrm>
            <a:off x="640080" y="5623560"/>
            <a:ext cx="10515600" cy="365760"/>
          </a:xfrm>
          <a:prstGeom prst="rect">
            <a:avLst/>
          </a:prstGeom>
          <a:noFill/>
          <a:ln/>
        </p:spPr>
        <p:txBody>
          <a:bodyPr wrap="square" lIns="0" tIns="0" rIns="0" bIns="0" rtlCol="0" anchor="ctr"/>
          <a:lstStyle/>
          <a:p>
            <a:pPr marL="0" indent="0">
              <a:buNone/>
            </a:pPr>
            <a:r>
              <a:rPr lang="en-US" sz="1700" b="1" dirty="0">
                <a:solidFill>
                  <a:srgbClr val="102A43"/>
                </a:solidFill>
                <a:latin typeface="Cambria" pitchFamily="34" charset="0"/>
                <a:ea typeface="Cambria" pitchFamily="34" charset="-122"/>
                <a:cs typeface="Cambria" pitchFamily="34" charset="-120"/>
              </a:rPr>
              <a:t>Every one of those sessions runs on a server you do not own, under terms you never negotiated.</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2A43"/>
        </a:solidFill>
        <a:effectLst/>
      </p:bgPr>
    </p:bg>
    <p:spTree>
      <p:nvGrpSpPr>
        <p:cNvPr id="1" name=""/>
        <p:cNvGrpSpPr/>
        <p:nvPr/>
      </p:nvGrpSpPr>
      <p:grpSpPr>
        <a:xfrm>
          <a:off x="0" y="0"/>
          <a:ext cx="0" cy="0"/>
          <a:chOff x="0" y="0"/>
          <a:chExt cx="0" cy="0"/>
        </a:xfrm>
      </p:grpSpPr>
      <p:sp>
        <p:nvSpPr>
          <p:cNvPr id="2" name="Shape 0"/>
          <p:cNvSpPr/>
          <p:nvPr/>
        </p:nvSpPr>
        <p:spPr>
          <a:xfrm>
            <a:off x="10762488" y="310896"/>
            <a:ext cx="786384" cy="676656"/>
          </a:xfrm>
          <a:prstGeom prst="roundRect">
            <a:avLst>
              <a:gd name="adj" fmla="val 9459"/>
            </a:avLst>
          </a:prstGeom>
          <a:solidFill>
            <a:srgbClr val="FAF7EF"/>
          </a:solidFill>
          <a:ln w="6350">
            <a:solidFill>
              <a:srgbClr val="FAF7EF"/>
            </a:solidFill>
            <a:prstDash val="solid"/>
          </a:ln>
        </p:spPr>
      </p:sp>
      <p:pic>
        <p:nvPicPr>
          <p:cNvPr id="3" name="Image 0" descr="logo_ink.png"/>
          <p:cNvPicPr>
            <a:picLocks noChangeAspect="1"/>
          </p:cNvPicPr>
          <p:nvPr/>
        </p:nvPicPr>
        <p:blipFill>
          <a:blip r:embed="rId3"/>
          <a:stretch>
            <a:fillRect/>
          </a:stretch>
        </p:blipFill>
        <p:spPr>
          <a:xfrm>
            <a:off x="10893000" y="438912"/>
            <a:ext cx="525359" cy="420624"/>
          </a:xfrm>
          <a:prstGeom prst="rect">
            <a:avLst/>
          </a:prstGeom>
        </p:spPr>
      </p:pic>
      <p:sp>
        <p:nvSpPr>
          <p:cNvPr id="4" name="Text 1"/>
          <p:cNvSpPr/>
          <p:nvPr/>
        </p:nvSpPr>
        <p:spPr>
          <a:xfrm>
            <a:off x="640080" y="566928"/>
            <a:ext cx="10908792" cy="256032"/>
          </a:xfrm>
          <a:prstGeom prst="rect">
            <a:avLst/>
          </a:prstGeom>
          <a:noFill/>
          <a:ln/>
        </p:spPr>
        <p:txBody>
          <a:bodyPr wrap="square" lIns="0" tIns="0" rIns="0" bIns="0" rtlCol="0" anchor="ctr"/>
          <a:lstStyle/>
          <a:p>
            <a:pPr marL="0" indent="0">
              <a:buNone/>
            </a:pPr>
            <a:r>
              <a:rPr lang="en-US" sz="1100" b="1" kern="0" spc="300" dirty="0">
                <a:solidFill>
                  <a:srgbClr val="8FB4D6"/>
                </a:solidFill>
                <a:latin typeface="Calibri" pitchFamily="34" charset="0"/>
                <a:ea typeface="Calibri" pitchFamily="34" charset="-122"/>
                <a:cs typeface="Calibri" pitchFamily="34" charset="-120"/>
              </a:rPr>
              <a:t>THE INVISIBLE PATH</a:t>
            </a:r>
            <a:endParaRPr lang="en-US" sz="1100" dirty="0"/>
          </a:p>
        </p:txBody>
      </p:sp>
      <p:sp>
        <p:nvSpPr>
          <p:cNvPr id="5" name="Text 2"/>
          <p:cNvSpPr/>
          <p:nvPr/>
        </p:nvSpPr>
        <p:spPr>
          <a:xfrm>
            <a:off x="640080" y="960120"/>
            <a:ext cx="10424160" cy="1005840"/>
          </a:xfrm>
          <a:prstGeom prst="rect">
            <a:avLst/>
          </a:prstGeom>
          <a:noFill/>
          <a:ln/>
        </p:spPr>
        <p:txBody>
          <a:bodyPr wrap="square" lIns="0" tIns="0" rIns="0" bIns="0" rtlCol="0" anchor="t"/>
          <a:lstStyle/>
          <a:p>
            <a:pPr marL="0" indent="0">
              <a:lnSpc>
                <a:spcPct val="102000"/>
              </a:lnSpc>
              <a:buNone/>
            </a:pPr>
            <a:r>
              <a:rPr lang="en-US" sz="3300" b="1" dirty="0">
                <a:solidFill>
                  <a:srgbClr val="FFFFFF"/>
                </a:solidFill>
                <a:latin typeface="Cambria" pitchFamily="34" charset="0"/>
                <a:ea typeface="Cambria" pitchFamily="34" charset="-122"/>
                <a:cs typeface="Cambria" pitchFamily="34" charset="-120"/>
              </a:rPr>
              <a:t>What actually happens when an employee pastes in a client document</a:t>
            </a:r>
            <a:endParaRPr lang="en-US" sz="3300" dirty="0"/>
          </a:p>
        </p:txBody>
      </p:sp>
      <p:sp>
        <p:nvSpPr>
          <p:cNvPr id="6" name="Shape 3"/>
          <p:cNvSpPr/>
          <p:nvPr/>
        </p:nvSpPr>
        <p:spPr>
          <a:xfrm>
            <a:off x="640080" y="2788920"/>
            <a:ext cx="2468880" cy="1965960"/>
          </a:xfrm>
          <a:prstGeom prst="roundRect">
            <a:avLst>
              <a:gd name="adj" fmla="val 3721"/>
            </a:avLst>
          </a:prstGeom>
          <a:solidFill>
            <a:srgbClr val="1B3A5A"/>
          </a:solidFill>
          <a:ln w="12700">
            <a:solidFill>
              <a:srgbClr val="2A4C6E"/>
            </a:solidFill>
            <a:prstDash val="solid"/>
          </a:ln>
        </p:spPr>
      </p:sp>
      <p:sp>
        <p:nvSpPr>
          <p:cNvPr id="7" name="Text 4"/>
          <p:cNvSpPr/>
          <p:nvPr/>
        </p:nvSpPr>
        <p:spPr>
          <a:xfrm>
            <a:off x="868680" y="2980944"/>
            <a:ext cx="2057400" cy="658368"/>
          </a:xfrm>
          <a:prstGeom prst="rect">
            <a:avLst/>
          </a:prstGeom>
          <a:noFill/>
          <a:ln/>
        </p:spPr>
        <p:txBody>
          <a:bodyPr wrap="square" lIns="0" tIns="0" rIns="0" bIns="0" rtlCol="0" anchor="t"/>
          <a:lstStyle/>
          <a:p>
            <a:pPr marL="0" indent="0">
              <a:lnSpc>
                <a:spcPct val="100000"/>
              </a:lnSpc>
              <a:buNone/>
            </a:pPr>
            <a:r>
              <a:rPr lang="en-US" sz="1600" b="1" dirty="0">
                <a:solidFill>
                  <a:srgbClr val="FFFFFF"/>
                </a:solidFill>
                <a:latin typeface="Cambria" pitchFamily="34" charset="0"/>
                <a:ea typeface="Cambria" pitchFamily="34" charset="-122"/>
                <a:cs typeface="Cambria" pitchFamily="34" charset="-120"/>
              </a:rPr>
              <a:t>The file</a:t>
            </a:r>
            <a:endParaRPr lang="en-US" sz="1600" dirty="0"/>
          </a:p>
        </p:txBody>
      </p:sp>
      <p:sp>
        <p:nvSpPr>
          <p:cNvPr id="8" name="Text 5"/>
          <p:cNvSpPr/>
          <p:nvPr/>
        </p:nvSpPr>
        <p:spPr>
          <a:xfrm>
            <a:off x="868680" y="3675888"/>
            <a:ext cx="2057400" cy="1005840"/>
          </a:xfrm>
          <a:prstGeom prst="rect">
            <a:avLst/>
          </a:prstGeom>
          <a:noFill/>
          <a:ln/>
        </p:spPr>
        <p:txBody>
          <a:bodyPr wrap="square" lIns="0" tIns="0" rIns="0" bIns="0" rtlCol="0" anchor="t"/>
          <a:lstStyle/>
          <a:p>
            <a:pPr marL="0" indent="0">
              <a:lnSpc>
                <a:spcPct val="115000"/>
              </a:lnSpc>
              <a:buNone/>
            </a:pPr>
            <a:r>
              <a:rPr lang="en-US" sz="1150" dirty="0">
                <a:solidFill>
                  <a:srgbClr val="A9B8C7"/>
                </a:solidFill>
                <a:latin typeface="Calibri" pitchFamily="34" charset="0"/>
                <a:ea typeface="Calibri" pitchFamily="34" charset="-122"/>
                <a:cs typeface="Calibri" pitchFamily="34" charset="-120"/>
              </a:rPr>
              <a:t>A demand letter, a deposition excerpt, a client’s medical record.</a:t>
            </a:r>
            <a:endParaRPr lang="en-US" sz="1150" dirty="0"/>
          </a:p>
        </p:txBody>
      </p:sp>
      <p:sp>
        <p:nvSpPr>
          <p:cNvPr id="9" name="Shape 6"/>
          <p:cNvSpPr/>
          <p:nvPr/>
        </p:nvSpPr>
        <p:spPr>
          <a:xfrm rot="5400000">
            <a:off x="3227832" y="3675888"/>
            <a:ext cx="274320" cy="219456"/>
          </a:xfrm>
          <a:prstGeom prst="triangle">
            <a:avLst/>
          </a:prstGeom>
          <a:solidFill>
            <a:srgbClr val="8FB4D6"/>
          </a:solidFill>
          <a:ln/>
        </p:spPr>
      </p:sp>
      <p:sp>
        <p:nvSpPr>
          <p:cNvPr id="10" name="Shape 7"/>
          <p:cNvSpPr/>
          <p:nvPr/>
        </p:nvSpPr>
        <p:spPr>
          <a:xfrm>
            <a:off x="3447288" y="2788920"/>
            <a:ext cx="2468880" cy="1965960"/>
          </a:xfrm>
          <a:prstGeom prst="roundRect">
            <a:avLst>
              <a:gd name="adj" fmla="val 3721"/>
            </a:avLst>
          </a:prstGeom>
          <a:solidFill>
            <a:srgbClr val="1B3A5A"/>
          </a:solidFill>
          <a:ln w="12700">
            <a:solidFill>
              <a:srgbClr val="2A4C6E"/>
            </a:solidFill>
            <a:prstDash val="solid"/>
          </a:ln>
        </p:spPr>
      </p:sp>
      <p:sp>
        <p:nvSpPr>
          <p:cNvPr id="11" name="Text 8"/>
          <p:cNvSpPr/>
          <p:nvPr/>
        </p:nvSpPr>
        <p:spPr>
          <a:xfrm>
            <a:off x="3675888" y="2980944"/>
            <a:ext cx="2057400" cy="658368"/>
          </a:xfrm>
          <a:prstGeom prst="rect">
            <a:avLst/>
          </a:prstGeom>
          <a:noFill/>
          <a:ln/>
        </p:spPr>
        <p:txBody>
          <a:bodyPr wrap="square" lIns="0" tIns="0" rIns="0" bIns="0" rtlCol="0" anchor="t"/>
          <a:lstStyle/>
          <a:p>
            <a:pPr marL="0" indent="0">
              <a:lnSpc>
                <a:spcPct val="100000"/>
              </a:lnSpc>
              <a:buNone/>
            </a:pPr>
            <a:r>
              <a:rPr lang="en-US" sz="1600" b="1" dirty="0">
                <a:solidFill>
                  <a:srgbClr val="FFFFFF"/>
                </a:solidFill>
                <a:latin typeface="Cambria" pitchFamily="34" charset="0"/>
                <a:ea typeface="Cambria" pitchFamily="34" charset="-122"/>
                <a:cs typeface="Cambria" pitchFamily="34" charset="-120"/>
              </a:rPr>
              <a:t>A personal account</a:t>
            </a:r>
            <a:endParaRPr lang="en-US" sz="1600" dirty="0"/>
          </a:p>
        </p:txBody>
      </p:sp>
      <p:sp>
        <p:nvSpPr>
          <p:cNvPr id="12" name="Text 9"/>
          <p:cNvSpPr/>
          <p:nvPr/>
        </p:nvSpPr>
        <p:spPr>
          <a:xfrm>
            <a:off x="3675888" y="3675888"/>
            <a:ext cx="2057400" cy="1005840"/>
          </a:xfrm>
          <a:prstGeom prst="rect">
            <a:avLst/>
          </a:prstGeom>
          <a:noFill/>
          <a:ln/>
        </p:spPr>
        <p:txBody>
          <a:bodyPr wrap="square" lIns="0" tIns="0" rIns="0" bIns="0" rtlCol="0" anchor="t"/>
          <a:lstStyle/>
          <a:p>
            <a:pPr marL="0" indent="0">
              <a:lnSpc>
                <a:spcPct val="115000"/>
              </a:lnSpc>
              <a:buNone/>
            </a:pPr>
            <a:r>
              <a:rPr lang="en-US" sz="1150" dirty="0">
                <a:solidFill>
                  <a:srgbClr val="A9B8C7"/>
                </a:solidFill>
                <a:latin typeface="Calibri" pitchFamily="34" charset="0"/>
                <a:ea typeface="Calibri" pitchFamily="34" charset="-122"/>
                <a:cs typeface="Calibri" pitchFamily="34" charset="-120"/>
              </a:rPr>
              <a:t>Free tier, personal email, no admin console, no record on your side.</a:t>
            </a:r>
            <a:endParaRPr lang="en-US" sz="1150" dirty="0"/>
          </a:p>
        </p:txBody>
      </p:sp>
      <p:sp>
        <p:nvSpPr>
          <p:cNvPr id="13" name="Shape 10"/>
          <p:cNvSpPr/>
          <p:nvPr/>
        </p:nvSpPr>
        <p:spPr>
          <a:xfrm rot="5400000">
            <a:off x="6035040" y="3675888"/>
            <a:ext cx="274320" cy="219456"/>
          </a:xfrm>
          <a:prstGeom prst="triangle">
            <a:avLst/>
          </a:prstGeom>
          <a:solidFill>
            <a:srgbClr val="8FB4D6"/>
          </a:solidFill>
          <a:ln/>
        </p:spPr>
      </p:sp>
      <p:sp>
        <p:nvSpPr>
          <p:cNvPr id="14" name="Shape 11"/>
          <p:cNvSpPr/>
          <p:nvPr/>
        </p:nvSpPr>
        <p:spPr>
          <a:xfrm>
            <a:off x="6254496" y="2788920"/>
            <a:ext cx="2468880" cy="1965960"/>
          </a:xfrm>
          <a:prstGeom prst="roundRect">
            <a:avLst>
              <a:gd name="adj" fmla="val 3721"/>
            </a:avLst>
          </a:prstGeom>
          <a:solidFill>
            <a:srgbClr val="1B3A5A"/>
          </a:solidFill>
          <a:ln w="12700">
            <a:solidFill>
              <a:srgbClr val="2A4C6E"/>
            </a:solidFill>
            <a:prstDash val="solid"/>
          </a:ln>
        </p:spPr>
      </p:sp>
      <p:sp>
        <p:nvSpPr>
          <p:cNvPr id="15" name="Text 12"/>
          <p:cNvSpPr/>
          <p:nvPr/>
        </p:nvSpPr>
        <p:spPr>
          <a:xfrm>
            <a:off x="6483096" y="2980944"/>
            <a:ext cx="2057400" cy="658368"/>
          </a:xfrm>
          <a:prstGeom prst="rect">
            <a:avLst/>
          </a:prstGeom>
          <a:noFill/>
          <a:ln/>
        </p:spPr>
        <p:txBody>
          <a:bodyPr wrap="square" lIns="0" tIns="0" rIns="0" bIns="0" rtlCol="0" anchor="t"/>
          <a:lstStyle/>
          <a:p>
            <a:pPr marL="0" indent="0">
              <a:lnSpc>
                <a:spcPct val="100000"/>
              </a:lnSpc>
              <a:buNone/>
            </a:pPr>
            <a:r>
              <a:rPr lang="en-US" sz="1600" b="1" dirty="0">
                <a:solidFill>
                  <a:srgbClr val="FFFFFF"/>
                </a:solidFill>
                <a:latin typeface="Cambria" pitchFamily="34" charset="0"/>
                <a:ea typeface="Cambria" pitchFamily="34" charset="-122"/>
                <a:cs typeface="Cambria" pitchFamily="34" charset="-120"/>
              </a:rPr>
              <a:t>Someone else’s servers</a:t>
            </a:r>
            <a:endParaRPr lang="en-US" sz="1600" dirty="0"/>
          </a:p>
        </p:txBody>
      </p:sp>
      <p:sp>
        <p:nvSpPr>
          <p:cNvPr id="16" name="Text 13"/>
          <p:cNvSpPr/>
          <p:nvPr/>
        </p:nvSpPr>
        <p:spPr>
          <a:xfrm>
            <a:off x="6483096" y="3675888"/>
            <a:ext cx="2057400" cy="1005840"/>
          </a:xfrm>
          <a:prstGeom prst="rect">
            <a:avLst/>
          </a:prstGeom>
          <a:noFill/>
          <a:ln/>
        </p:spPr>
        <p:txBody>
          <a:bodyPr wrap="square" lIns="0" tIns="0" rIns="0" bIns="0" rtlCol="0" anchor="t"/>
          <a:lstStyle/>
          <a:p>
            <a:pPr marL="0" indent="0">
              <a:lnSpc>
                <a:spcPct val="115000"/>
              </a:lnSpc>
              <a:buNone/>
            </a:pPr>
            <a:r>
              <a:rPr lang="en-US" sz="1150" dirty="0">
                <a:solidFill>
                  <a:srgbClr val="A9B8C7"/>
                </a:solidFill>
                <a:latin typeface="Calibri" pitchFamily="34" charset="0"/>
                <a:ea typeface="Calibri" pitchFamily="34" charset="-122"/>
                <a:cs typeface="Calibri" pitchFamily="34" charset="-120"/>
              </a:rPr>
              <a:t>Held under consumer terms your firm never reviewed or signed.</a:t>
            </a:r>
            <a:endParaRPr lang="en-US" sz="1150" dirty="0"/>
          </a:p>
        </p:txBody>
      </p:sp>
      <p:sp>
        <p:nvSpPr>
          <p:cNvPr id="17" name="Shape 14"/>
          <p:cNvSpPr/>
          <p:nvPr/>
        </p:nvSpPr>
        <p:spPr>
          <a:xfrm rot="5400000">
            <a:off x="8842248" y="3675888"/>
            <a:ext cx="274320" cy="219456"/>
          </a:xfrm>
          <a:prstGeom prst="triangle">
            <a:avLst/>
          </a:prstGeom>
          <a:solidFill>
            <a:srgbClr val="8FB4D6"/>
          </a:solidFill>
          <a:ln/>
        </p:spPr>
      </p:sp>
      <p:sp>
        <p:nvSpPr>
          <p:cNvPr id="18" name="Shape 15"/>
          <p:cNvSpPr/>
          <p:nvPr/>
        </p:nvSpPr>
        <p:spPr>
          <a:xfrm>
            <a:off x="9061704" y="2788920"/>
            <a:ext cx="2468880" cy="1965960"/>
          </a:xfrm>
          <a:prstGeom prst="roundRect">
            <a:avLst>
              <a:gd name="adj" fmla="val 3721"/>
            </a:avLst>
          </a:prstGeom>
          <a:solidFill>
            <a:srgbClr val="1B3A5A"/>
          </a:solidFill>
          <a:ln w="19050">
            <a:solidFill>
              <a:srgbClr val="A8452F"/>
            </a:solidFill>
            <a:prstDash val="solid"/>
          </a:ln>
        </p:spPr>
      </p:sp>
      <p:sp>
        <p:nvSpPr>
          <p:cNvPr id="19" name="Text 16"/>
          <p:cNvSpPr/>
          <p:nvPr/>
        </p:nvSpPr>
        <p:spPr>
          <a:xfrm>
            <a:off x="9290304" y="2980944"/>
            <a:ext cx="2057400" cy="658368"/>
          </a:xfrm>
          <a:prstGeom prst="rect">
            <a:avLst/>
          </a:prstGeom>
          <a:noFill/>
          <a:ln/>
        </p:spPr>
        <p:txBody>
          <a:bodyPr wrap="square" lIns="0" tIns="0" rIns="0" bIns="0" rtlCol="0" anchor="t"/>
          <a:lstStyle/>
          <a:p>
            <a:pPr marL="0" indent="0">
              <a:lnSpc>
                <a:spcPct val="100000"/>
              </a:lnSpc>
              <a:buNone/>
            </a:pPr>
            <a:r>
              <a:rPr lang="en-US" sz="1600" b="1" dirty="0">
                <a:solidFill>
                  <a:srgbClr val="E39A86"/>
                </a:solidFill>
                <a:latin typeface="Cambria" pitchFamily="34" charset="0"/>
                <a:ea typeface="Cambria" pitchFamily="34" charset="-122"/>
                <a:cs typeface="Cambria" pitchFamily="34" charset="-120"/>
              </a:rPr>
              <a:t>Out of your hands</a:t>
            </a:r>
            <a:endParaRPr lang="en-US" sz="1600" dirty="0"/>
          </a:p>
        </p:txBody>
      </p:sp>
      <p:sp>
        <p:nvSpPr>
          <p:cNvPr id="20" name="Text 17"/>
          <p:cNvSpPr/>
          <p:nvPr/>
        </p:nvSpPr>
        <p:spPr>
          <a:xfrm>
            <a:off x="9290304" y="3675888"/>
            <a:ext cx="2057400" cy="1005840"/>
          </a:xfrm>
          <a:prstGeom prst="rect">
            <a:avLst/>
          </a:prstGeom>
          <a:noFill/>
          <a:ln/>
        </p:spPr>
        <p:txBody>
          <a:bodyPr wrap="square" lIns="0" tIns="0" rIns="0" bIns="0" rtlCol="0" anchor="t"/>
          <a:lstStyle/>
          <a:p>
            <a:pPr marL="0" indent="0">
              <a:lnSpc>
                <a:spcPct val="115000"/>
              </a:lnSpc>
              <a:buNone/>
            </a:pPr>
            <a:r>
              <a:rPr lang="en-US" sz="1150" dirty="0">
                <a:solidFill>
                  <a:srgbClr val="A9B8C7"/>
                </a:solidFill>
                <a:latin typeface="Calibri" pitchFamily="34" charset="0"/>
                <a:ea typeface="Calibri" pitchFamily="34" charset="-122"/>
                <a:cs typeface="Calibri" pitchFamily="34" charset="-120"/>
              </a:rPr>
              <a:t>Retention you do not set, training you cannot audit, breach and discovery exposure you inherit.</a:t>
            </a:r>
            <a:endParaRPr lang="en-US" sz="1150" dirty="0"/>
          </a:p>
        </p:txBody>
      </p:sp>
      <p:sp>
        <p:nvSpPr>
          <p:cNvPr id="21" name="Text 18"/>
          <p:cNvSpPr/>
          <p:nvPr/>
        </p:nvSpPr>
        <p:spPr>
          <a:xfrm>
            <a:off x="640080" y="5303520"/>
            <a:ext cx="10424160" cy="3657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No log. No copy. No answer for the client who asks where their information went.</a:t>
            </a:r>
            <a:endParaRPr lang="en-US" sz="1700" dirty="0"/>
          </a:p>
        </p:txBody>
      </p:sp>
      <p:sp>
        <p:nvSpPr>
          <p:cNvPr id="22" name="Text 19"/>
          <p:cNvSpPr/>
          <p:nvPr/>
        </p:nvSpPr>
        <p:spPr>
          <a:xfrm>
            <a:off x="640080" y="5715000"/>
            <a:ext cx="10424160" cy="320040"/>
          </a:xfrm>
          <a:prstGeom prst="rect">
            <a:avLst/>
          </a:prstGeom>
          <a:noFill/>
          <a:ln/>
        </p:spPr>
        <p:txBody>
          <a:bodyPr wrap="square" lIns="0" tIns="0" rIns="0" bIns="0" rtlCol="0" anchor="ctr"/>
          <a:lstStyle/>
          <a:p>
            <a:pPr marL="0" indent="0">
              <a:buNone/>
            </a:pPr>
            <a:r>
              <a:rPr lang="en-US" sz="1400" dirty="0">
                <a:solidFill>
                  <a:srgbClr val="8FB4D6"/>
                </a:solidFill>
                <a:latin typeface="Calibri" pitchFamily="34" charset="0"/>
                <a:ea typeface="Calibri" pitchFamily="34" charset="-122"/>
                <a:cs typeface="Calibri" pitchFamily="34" charset="-120"/>
              </a:rPr>
              <a:t>The firm carries the obligation. The vendor carries the data.</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102A43"/>
        </a:solidFill>
        <a:effectLst/>
      </p:bgPr>
    </p:bg>
    <p:spTree>
      <p:nvGrpSpPr>
        <p:cNvPr id="1" name=""/>
        <p:cNvGrpSpPr/>
        <p:nvPr/>
      </p:nvGrpSpPr>
      <p:grpSpPr>
        <a:xfrm>
          <a:off x="0" y="0"/>
          <a:ext cx="0" cy="0"/>
          <a:chOff x="0" y="0"/>
          <a:chExt cx="0" cy="0"/>
        </a:xfrm>
      </p:grpSpPr>
      <p:sp>
        <p:nvSpPr>
          <p:cNvPr id="2" name="Shape 0"/>
          <p:cNvSpPr/>
          <p:nvPr/>
        </p:nvSpPr>
        <p:spPr>
          <a:xfrm>
            <a:off x="10762488" y="310896"/>
            <a:ext cx="786384" cy="676656"/>
          </a:xfrm>
          <a:prstGeom prst="roundRect">
            <a:avLst>
              <a:gd name="adj" fmla="val 9459"/>
            </a:avLst>
          </a:prstGeom>
          <a:solidFill>
            <a:srgbClr val="FAF7EF"/>
          </a:solidFill>
          <a:ln w="6350">
            <a:solidFill>
              <a:srgbClr val="FAF7EF"/>
            </a:solidFill>
            <a:prstDash val="solid"/>
          </a:ln>
        </p:spPr>
      </p:sp>
      <p:pic>
        <p:nvPicPr>
          <p:cNvPr id="3" name="Image 0" descr="logo_ink.png"/>
          <p:cNvPicPr>
            <a:picLocks noChangeAspect="1"/>
          </p:cNvPicPr>
          <p:nvPr/>
        </p:nvPicPr>
        <p:blipFill>
          <a:blip r:embed="rId3"/>
          <a:stretch>
            <a:fillRect/>
          </a:stretch>
        </p:blipFill>
        <p:spPr>
          <a:xfrm>
            <a:off x="10893000" y="438912"/>
            <a:ext cx="525359" cy="420624"/>
          </a:xfrm>
          <a:prstGeom prst="rect">
            <a:avLst/>
          </a:prstGeom>
        </p:spPr>
      </p:pic>
      <p:sp>
        <p:nvSpPr>
          <p:cNvPr id="4" name="Text 1"/>
          <p:cNvSpPr/>
          <p:nvPr/>
        </p:nvSpPr>
        <p:spPr>
          <a:xfrm>
            <a:off x="640080" y="566928"/>
            <a:ext cx="10908792" cy="256032"/>
          </a:xfrm>
          <a:prstGeom prst="rect">
            <a:avLst/>
          </a:prstGeom>
          <a:noFill/>
          <a:ln/>
        </p:spPr>
        <p:txBody>
          <a:bodyPr wrap="square" lIns="0" tIns="0" rIns="0" bIns="0" rtlCol="0" anchor="ctr"/>
          <a:lstStyle/>
          <a:p>
            <a:pPr marL="0" indent="0">
              <a:buNone/>
            </a:pPr>
            <a:r>
              <a:rPr lang="en-US" sz="1100" b="1" kern="0" spc="300" dirty="0">
                <a:solidFill>
                  <a:srgbClr val="8FB4D6"/>
                </a:solidFill>
                <a:latin typeface="Calibri" pitchFamily="34" charset="0"/>
                <a:ea typeface="Calibri" pitchFamily="34" charset="-122"/>
                <a:cs typeface="Calibri" pitchFamily="34" charset="-120"/>
              </a:rPr>
              <a:t>THE ALTERNATIVE</a:t>
            </a:r>
            <a:endParaRPr lang="en-US" sz="1100" dirty="0"/>
          </a:p>
        </p:txBody>
      </p:sp>
      <p:sp>
        <p:nvSpPr>
          <p:cNvPr id="5" name="Text 2"/>
          <p:cNvSpPr/>
          <p:nvPr/>
        </p:nvSpPr>
        <p:spPr>
          <a:xfrm>
            <a:off x="640080" y="960120"/>
            <a:ext cx="10908792" cy="822960"/>
          </a:xfrm>
          <a:prstGeom prst="rect">
            <a:avLst/>
          </a:prstGeom>
          <a:noFill/>
          <a:ln/>
        </p:spPr>
        <p:txBody>
          <a:bodyPr wrap="square" lIns="0" tIns="0" rIns="0" bIns="0" rtlCol="0" anchor="t"/>
          <a:lstStyle/>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One server. In your office. Behind your lock.</a:t>
            </a:r>
            <a:endParaRPr lang="en-US" sz="4000" dirty="0"/>
          </a:p>
        </p:txBody>
      </p:sp>
      <p:sp>
        <p:nvSpPr>
          <p:cNvPr id="6" name="Text 3"/>
          <p:cNvSpPr/>
          <p:nvPr/>
        </p:nvSpPr>
        <p:spPr>
          <a:xfrm>
            <a:off x="640080" y="1920240"/>
            <a:ext cx="9326880" cy="548640"/>
          </a:xfrm>
          <a:prstGeom prst="rect">
            <a:avLst/>
          </a:prstGeom>
          <a:noFill/>
          <a:ln/>
        </p:spPr>
        <p:txBody>
          <a:bodyPr wrap="square" lIns="0" tIns="0" rIns="0" bIns="0" rtlCol="0" anchor="ctr"/>
          <a:lstStyle/>
          <a:p>
            <a:pPr marL="0" indent="0">
              <a:lnSpc>
                <a:spcPct val="115000"/>
              </a:lnSpc>
              <a:buNone/>
            </a:pPr>
            <a:r>
              <a:rPr lang="en-US" sz="1600" dirty="0">
                <a:solidFill>
                  <a:srgbClr val="A9B8C7"/>
                </a:solidFill>
                <a:latin typeface="Calibri" pitchFamily="34" charset="0"/>
                <a:ea typeface="Calibri" pitchFamily="34" charset="-122"/>
                <a:cs typeface="Calibri" pitchFamily="34" charset="-120"/>
              </a:rPr>
              <a:t>An AI model running on hardware the firm owns, reached through a browser like any other internal system.</a:t>
            </a:r>
            <a:endParaRPr lang="en-US" sz="1600" dirty="0"/>
          </a:p>
        </p:txBody>
      </p:sp>
      <p:sp>
        <p:nvSpPr>
          <p:cNvPr id="7" name="Shape 4"/>
          <p:cNvSpPr/>
          <p:nvPr/>
        </p:nvSpPr>
        <p:spPr>
          <a:xfrm>
            <a:off x="640080" y="3108960"/>
            <a:ext cx="3383280" cy="2514600"/>
          </a:xfrm>
          <a:prstGeom prst="roundRect">
            <a:avLst>
              <a:gd name="adj" fmla="val 2909"/>
            </a:avLst>
          </a:prstGeom>
          <a:solidFill>
            <a:srgbClr val="1B3A5A"/>
          </a:solidFill>
          <a:ln w="12700">
            <a:solidFill>
              <a:srgbClr val="2A4C6E"/>
            </a:solidFill>
            <a:prstDash val="solid"/>
          </a:ln>
        </p:spPr>
      </p:sp>
      <p:pic>
        <p:nvPicPr>
          <p:cNvPr id="8" name="Image 1" descr="icons/server.png"/>
          <p:cNvPicPr>
            <a:picLocks noChangeAspect="1"/>
          </p:cNvPicPr>
          <p:nvPr/>
        </p:nvPicPr>
        <p:blipFill>
          <a:blip r:embed="rId4"/>
          <a:stretch>
            <a:fillRect/>
          </a:stretch>
        </p:blipFill>
        <p:spPr>
          <a:xfrm>
            <a:off x="932688" y="3383280"/>
            <a:ext cx="384048" cy="384048"/>
          </a:xfrm>
          <a:prstGeom prst="rect">
            <a:avLst/>
          </a:prstGeom>
        </p:spPr>
      </p:pic>
      <p:sp>
        <p:nvSpPr>
          <p:cNvPr id="9" name="Text 5"/>
          <p:cNvSpPr/>
          <p:nvPr/>
        </p:nvSpPr>
        <p:spPr>
          <a:xfrm>
            <a:off x="932688" y="3886200"/>
            <a:ext cx="2834640" cy="36576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You own the box</a:t>
            </a:r>
            <a:endParaRPr lang="en-US" sz="1800" dirty="0"/>
          </a:p>
        </p:txBody>
      </p:sp>
      <p:sp>
        <p:nvSpPr>
          <p:cNvPr id="10" name="Text 6"/>
          <p:cNvSpPr/>
          <p:nvPr/>
        </p:nvSpPr>
        <p:spPr>
          <a:xfrm>
            <a:off x="932688" y="4297680"/>
            <a:ext cx="2834640" cy="1234440"/>
          </a:xfrm>
          <a:prstGeom prst="rect">
            <a:avLst/>
          </a:prstGeom>
          <a:noFill/>
          <a:ln/>
        </p:spPr>
        <p:txBody>
          <a:bodyPr wrap="square" lIns="0" tIns="0" rIns="0" bIns="0" rtlCol="0" anchor="t"/>
          <a:lstStyle/>
          <a:p>
            <a:pPr marL="0" indent="0">
              <a:lnSpc>
                <a:spcPct val="115000"/>
              </a:lnSpc>
              <a:buNone/>
            </a:pPr>
            <a:r>
              <a:rPr lang="en-US" sz="1250" dirty="0">
                <a:solidFill>
                  <a:srgbClr val="A9B8C7"/>
                </a:solidFill>
                <a:latin typeface="Calibri" pitchFamily="34" charset="0"/>
                <a:ea typeface="Calibri" pitchFamily="34" charset="-122"/>
                <a:cs typeface="Calibri" pitchFamily="34" charset="-120"/>
              </a:rPr>
              <a:t>It sits in your server closet or a locked cabinet. A firm asset on the balance sheet, not a subscription line that renews forever.</a:t>
            </a:r>
            <a:endParaRPr lang="en-US" sz="1250" dirty="0"/>
          </a:p>
        </p:txBody>
      </p:sp>
      <p:sp>
        <p:nvSpPr>
          <p:cNvPr id="11" name="Shape 7"/>
          <p:cNvSpPr/>
          <p:nvPr/>
        </p:nvSpPr>
        <p:spPr>
          <a:xfrm>
            <a:off x="4407408" y="3108960"/>
            <a:ext cx="3383280" cy="2514600"/>
          </a:xfrm>
          <a:prstGeom prst="roundRect">
            <a:avLst>
              <a:gd name="adj" fmla="val 2909"/>
            </a:avLst>
          </a:prstGeom>
          <a:solidFill>
            <a:srgbClr val="1B3A5A"/>
          </a:solidFill>
          <a:ln w="12700">
            <a:solidFill>
              <a:srgbClr val="2A4C6E"/>
            </a:solidFill>
            <a:prstDash val="solid"/>
          </a:ln>
        </p:spPr>
      </p:sp>
      <p:pic>
        <p:nvPicPr>
          <p:cNvPr id="12" name="Image 2" descr="icons/network.png"/>
          <p:cNvPicPr>
            <a:picLocks noChangeAspect="1"/>
          </p:cNvPicPr>
          <p:nvPr/>
        </p:nvPicPr>
        <p:blipFill>
          <a:blip r:embed="rId5"/>
          <a:stretch>
            <a:fillRect/>
          </a:stretch>
        </p:blipFill>
        <p:spPr>
          <a:xfrm>
            <a:off x="4700016" y="3383280"/>
            <a:ext cx="384048" cy="384048"/>
          </a:xfrm>
          <a:prstGeom prst="rect">
            <a:avLst/>
          </a:prstGeom>
        </p:spPr>
      </p:pic>
      <p:sp>
        <p:nvSpPr>
          <p:cNvPr id="13" name="Text 8"/>
          <p:cNvSpPr/>
          <p:nvPr/>
        </p:nvSpPr>
        <p:spPr>
          <a:xfrm>
            <a:off x="4700016" y="3886200"/>
            <a:ext cx="2834640" cy="36576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Traffic stops at your walls</a:t>
            </a:r>
            <a:endParaRPr lang="en-US" sz="1800" dirty="0"/>
          </a:p>
        </p:txBody>
      </p:sp>
      <p:sp>
        <p:nvSpPr>
          <p:cNvPr id="14" name="Text 9"/>
          <p:cNvSpPr/>
          <p:nvPr/>
        </p:nvSpPr>
        <p:spPr>
          <a:xfrm>
            <a:off x="4700016" y="4297680"/>
            <a:ext cx="2834640" cy="1234440"/>
          </a:xfrm>
          <a:prstGeom prst="rect">
            <a:avLst/>
          </a:prstGeom>
          <a:noFill/>
          <a:ln/>
        </p:spPr>
        <p:txBody>
          <a:bodyPr wrap="square" lIns="0" tIns="0" rIns="0" bIns="0" rtlCol="0" anchor="t"/>
          <a:lstStyle/>
          <a:p>
            <a:pPr marL="0" indent="0">
              <a:lnSpc>
                <a:spcPct val="115000"/>
              </a:lnSpc>
              <a:buNone/>
            </a:pPr>
            <a:r>
              <a:rPr lang="en-US" sz="1250" dirty="0">
                <a:solidFill>
                  <a:srgbClr val="A9B8C7"/>
                </a:solidFill>
                <a:latin typeface="Calibri" pitchFamily="34" charset="0"/>
                <a:ea typeface="Calibri" pitchFamily="34" charset="-122"/>
                <a:cs typeface="Calibri" pitchFamily="34" charset="-120"/>
              </a:rPr>
              <a:t>Prompts, documents and answers stay in the firm network. The server does not need an internet connection to answer a question.</a:t>
            </a:r>
            <a:endParaRPr lang="en-US" sz="1250" dirty="0"/>
          </a:p>
        </p:txBody>
      </p:sp>
      <p:sp>
        <p:nvSpPr>
          <p:cNvPr id="15" name="Shape 10"/>
          <p:cNvSpPr/>
          <p:nvPr/>
        </p:nvSpPr>
        <p:spPr>
          <a:xfrm>
            <a:off x="8174736" y="3108960"/>
            <a:ext cx="3383280" cy="2514600"/>
          </a:xfrm>
          <a:prstGeom prst="roundRect">
            <a:avLst>
              <a:gd name="adj" fmla="val 2909"/>
            </a:avLst>
          </a:prstGeom>
          <a:solidFill>
            <a:srgbClr val="1B3A5A"/>
          </a:solidFill>
          <a:ln w="12700">
            <a:solidFill>
              <a:srgbClr val="2A4C6E"/>
            </a:solidFill>
            <a:prstDash val="solid"/>
          </a:ln>
        </p:spPr>
      </p:sp>
      <p:pic>
        <p:nvPicPr>
          <p:cNvPr id="16" name="Image 3" descr="icons/infinity.png"/>
          <p:cNvPicPr>
            <a:picLocks noChangeAspect="1"/>
          </p:cNvPicPr>
          <p:nvPr/>
        </p:nvPicPr>
        <p:blipFill>
          <a:blip r:embed="rId6"/>
          <a:stretch>
            <a:fillRect/>
          </a:stretch>
        </p:blipFill>
        <p:spPr>
          <a:xfrm>
            <a:off x="8467344" y="3383280"/>
            <a:ext cx="384048" cy="384048"/>
          </a:xfrm>
          <a:prstGeom prst="rect">
            <a:avLst/>
          </a:prstGeom>
        </p:spPr>
      </p:pic>
      <p:sp>
        <p:nvSpPr>
          <p:cNvPr id="17" name="Text 11"/>
          <p:cNvSpPr/>
          <p:nvPr/>
        </p:nvSpPr>
        <p:spPr>
          <a:xfrm>
            <a:off x="8467344" y="3886200"/>
            <a:ext cx="2834640" cy="36576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Everyone gets a seat</a:t>
            </a:r>
            <a:endParaRPr lang="en-US" sz="1800" dirty="0"/>
          </a:p>
        </p:txBody>
      </p:sp>
      <p:sp>
        <p:nvSpPr>
          <p:cNvPr id="18" name="Text 12"/>
          <p:cNvSpPr/>
          <p:nvPr/>
        </p:nvSpPr>
        <p:spPr>
          <a:xfrm>
            <a:off x="8467344" y="4297680"/>
            <a:ext cx="2834640" cy="1234440"/>
          </a:xfrm>
          <a:prstGeom prst="rect">
            <a:avLst/>
          </a:prstGeom>
          <a:noFill/>
          <a:ln/>
        </p:spPr>
        <p:txBody>
          <a:bodyPr wrap="square" lIns="0" tIns="0" rIns="0" bIns="0" rtlCol="0" anchor="t"/>
          <a:lstStyle/>
          <a:p>
            <a:pPr marL="0" indent="0">
              <a:lnSpc>
                <a:spcPct val="115000"/>
              </a:lnSpc>
              <a:buNone/>
            </a:pPr>
            <a:r>
              <a:rPr lang="en-US" sz="1250" dirty="0">
                <a:solidFill>
                  <a:srgbClr val="A9B8C7"/>
                </a:solidFill>
                <a:latin typeface="Calibri" pitchFamily="34" charset="0"/>
                <a:ea typeface="Calibri" pitchFamily="34" charset="-122"/>
                <a:cs typeface="Calibri" pitchFamily="34" charset="-120"/>
              </a:rPr>
              <a:t>One person or thirty, the server costs the same. No per-head license or subscription. </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AF7EF"/>
        </a:solidFill>
        <a:effectLst/>
      </p:bgPr>
    </p:bg>
    <p:spTree>
      <p:nvGrpSpPr>
        <p:cNvPr id="1" name=""/>
        <p:cNvGrpSpPr/>
        <p:nvPr/>
      </p:nvGrpSpPr>
      <p:grpSpPr>
        <a:xfrm>
          <a:off x="0" y="0"/>
          <a:ext cx="0" cy="0"/>
          <a:chOff x="0" y="0"/>
          <a:chExt cx="0" cy="0"/>
        </a:xfrm>
      </p:grpSpPr>
      <p:pic>
        <p:nvPicPr>
          <p:cNvPr id="2" name="Image 0" descr="logo_ink.png"/>
          <p:cNvPicPr>
            <a:picLocks noChangeAspect="1"/>
          </p:cNvPicPr>
          <p:nvPr/>
        </p:nvPicPr>
        <p:blipFill>
          <a:blip r:embed="rId3"/>
          <a:stretch>
            <a:fillRect/>
          </a:stretch>
        </p:blipFill>
        <p:spPr>
          <a:xfrm>
            <a:off x="10893000" y="438912"/>
            <a:ext cx="525359" cy="420624"/>
          </a:xfrm>
          <a:prstGeom prst="rect">
            <a:avLst/>
          </a:prstGeom>
        </p:spPr>
      </p:pic>
      <p:sp>
        <p:nvSpPr>
          <p:cNvPr id="3" name="Text 0"/>
          <p:cNvSpPr/>
          <p:nvPr/>
        </p:nvSpPr>
        <p:spPr>
          <a:xfrm>
            <a:off x="640080" y="566928"/>
            <a:ext cx="10908792" cy="256032"/>
          </a:xfrm>
          <a:prstGeom prst="rect">
            <a:avLst/>
          </a:prstGeom>
          <a:noFill/>
          <a:ln/>
        </p:spPr>
        <p:txBody>
          <a:bodyPr wrap="square" lIns="0" tIns="0" rIns="0" bIns="0" rtlCol="0" anchor="ctr"/>
          <a:lstStyle/>
          <a:p>
            <a:pPr marL="0" indent="0">
              <a:buNone/>
            </a:pPr>
            <a:r>
              <a:rPr lang="en-US" sz="1100" b="1" kern="0" spc="300" dirty="0">
                <a:solidFill>
                  <a:srgbClr val="2F5F87"/>
                </a:solidFill>
                <a:latin typeface="Calibri" pitchFamily="34" charset="0"/>
                <a:ea typeface="Calibri" pitchFamily="34" charset="-122"/>
                <a:cs typeface="Calibri" pitchFamily="34" charset="-120"/>
              </a:rPr>
              <a:t>HOW IT WORKS</a:t>
            </a:r>
            <a:endParaRPr lang="en-US" sz="1100" dirty="0"/>
          </a:p>
        </p:txBody>
      </p:sp>
      <p:sp>
        <p:nvSpPr>
          <p:cNvPr id="4" name="Text 1"/>
          <p:cNvSpPr/>
          <p:nvPr/>
        </p:nvSpPr>
        <p:spPr>
          <a:xfrm>
            <a:off x="640080" y="960120"/>
            <a:ext cx="10908792" cy="731520"/>
          </a:xfrm>
          <a:prstGeom prst="rect">
            <a:avLst/>
          </a:prstGeom>
          <a:noFill/>
          <a:ln/>
        </p:spPr>
        <p:txBody>
          <a:bodyPr wrap="square" lIns="0" tIns="0" rIns="0" bIns="0" rtlCol="0" anchor="t"/>
          <a:lstStyle/>
          <a:p>
            <a:pPr marL="0" indent="0">
              <a:lnSpc>
                <a:spcPct val="102000"/>
              </a:lnSpc>
              <a:buNone/>
            </a:pPr>
            <a:r>
              <a:rPr lang="en-US" sz="3400" b="1" dirty="0">
                <a:solidFill>
                  <a:srgbClr val="102A43"/>
                </a:solidFill>
                <a:latin typeface="Cambria" pitchFamily="34" charset="0"/>
                <a:ea typeface="Cambria" pitchFamily="34" charset="-122"/>
                <a:cs typeface="Cambria" pitchFamily="34" charset="-120"/>
              </a:rPr>
              <a:t>One server, inside your perimeter</a:t>
            </a:r>
            <a:endParaRPr lang="en-US" sz="3400" dirty="0"/>
          </a:p>
        </p:txBody>
      </p:sp>
      <p:sp>
        <p:nvSpPr>
          <p:cNvPr id="5" name="Shape 2"/>
          <p:cNvSpPr/>
          <p:nvPr/>
        </p:nvSpPr>
        <p:spPr>
          <a:xfrm>
            <a:off x="640080" y="2103120"/>
            <a:ext cx="7772400" cy="3749040"/>
          </a:xfrm>
          <a:prstGeom prst="roundRect">
            <a:avLst>
              <a:gd name="adj" fmla="val 2439"/>
            </a:avLst>
          </a:prstGeom>
          <a:solidFill>
            <a:srgbClr val="FFFFFF"/>
          </a:solidFill>
          <a:ln w="15875">
            <a:solidFill>
              <a:srgbClr val="2F5F87"/>
            </a:solidFill>
            <a:prstDash val="solid"/>
          </a:ln>
        </p:spPr>
      </p:sp>
      <p:sp>
        <p:nvSpPr>
          <p:cNvPr id="6" name="Text 3"/>
          <p:cNvSpPr/>
          <p:nvPr/>
        </p:nvSpPr>
        <p:spPr>
          <a:xfrm>
            <a:off x="868680" y="2240280"/>
            <a:ext cx="3657600" cy="274320"/>
          </a:xfrm>
          <a:prstGeom prst="rect">
            <a:avLst/>
          </a:prstGeom>
          <a:noFill/>
          <a:ln/>
        </p:spPr>
        <p:txBody>
          <a:bodyPr wrap="square" lIns="0" tIns="0" rIns="0" bIns="0" rtlCol="0" anchor="ctr"/>
          <a:lstStyle/>
          <a:p>
            <a:pPr marL="0" indent="0">
              <a:buNone/>
            </a:pPr>
            <a:r>
              <a:rPr lang="en-US" sz="1000" b="1" kern="0" spc="250" dirty="0">
                <a:solidFill>
                  <a:srgbClr val="2F5F87"/>
                </a:solidFill>
                <a:latin typeface="Calibri" pitchFamily="34" charset="0"/>
                <a:ea typeface="Calibri" pitchFamily="34" charset="-122"/>
                <a:cs typeface="Calibri" pitchFamily="34" charset="-120"/>
              </a:rPr>
              <a:t>YOUR OFFICE NETWORK</a:t>
            </a:r>
            <a:endParaRPr lang="en-US" sz="1000" dirty="0"/>
          </a:p>
        </p:txBody>
      </p:sp>
      <p:sp>
        <p:nvSpPr>
          <p:cNvPr id="7" name="Shape 4"/>
          <p:cNvSpPr/>
          <p:nvPr/>
        </p:nvSpPr>
        <p:spPr>
          <a:xfrm>
            <a:off x="914400" y="2788920"/>
            <a:ext cx="2286000" cy="640080"/>
          </a:xfrm>
          <a:prstGeom prst="roundRect">
            <a:avLst>
              <a:gd name="adj" fmla="val 8571"/>
            </a:avLst>
          </a:prstGeom>
          <a:solidFill>
            <a:srgbClr val="FAF7EF"/>
          </a:solidFill>
          <a:ln w="12700">
            <a:solidFill>
              <a:srgbClr val="DDD8CB"/>
            </a:solidFill>
            <a:prstDash val="solid"/>
          </a:ln>
        </p:spPr>
      </p:sp>
      <p:sp>
        <p:nvSpPr>
          <p:cNvPr id="8" name="Text 5"/>
          <p:cNvSpPr/>
          <p:nvPr/>
        </p:nvSpPr>
        <p:spPr>
          <a:xfrm>
            <a:off x="1051560" y="2788920"/>
            <a:ext cx="2057400" cy="640080"/>
          </a:xfrm>
          <a:prstGeom prst="rect">
            <a:avLst/>
          </a:prstGeom>
          <a:noFill/>
          <a:ln/>
        </p:spPr>
        <p:txBody>
          <a:bodyPr wrap="square" lIns="0" tIns="0" rIns="0" bIns="0" rtlCol="0" anchor="ctr"/>
          <a:lstStyle/>
          <a:p>
            <a:pPr marL="0" indent="0">
              <a:buNone/>
            </a:pPr>
            <a:r>
              <a:rPr lang="en-US" sz="1250" dirty="0">
                <a:solidFill>
                  <a:srgbClr val="102A43"/>
                </a:solidFill>
                <a:latin typeface="Calibri" pitchFamily="34" charset="0"/>
                <a:ea typeface="Calibri" pitchFamily="34" charset="-122"/>
                <a:cs typeface="Calibri" pitchFamily="34" charset="-120"/>
              </a:rPr>
              <a:t>Attorneys</a:t>
            </a:r>
            <a:endParaRPr lang="en-US" sz="1250" dirty="0"/>
          </a:p>
        </p:txBody>
      </p:sp>
      <p:sp>
        <p:nvSpPr>
          <p:cNvPr id="9" name="Shape 6"/>
          <p:cNvSpPr/>
          <p:nvPr/>
        </p:nvSpPr>
        <p:spPr>
          <a:xfrm>
            <a:off x="914400" y="3657600"/>
            <a:ext cx="2286000" cy="640080"/>
          </a:xfrm>
          <a:prstGeom prst="roundRect">
            <a:avLst>
              <a:gd name="adj" fmla="val 8571"/>
            </a:avLst>
          </a:prstGeom>
          <a:solidFill>
            <a:srgbClr val="FAF7EF"/>
          </a:solidFill>
          <a:ln w="12700">
            <a:solidFill>
              <a:srgbClr val="DDD8CB"/>
            </a:solidFill>
            <a:prstDash val="solid"/>
          </a:ln>
        </p:spPr>
      </p:sp>
      <p:sp>
        <p:nvSpPr>
          <p:cNvPr id="10" name="Text 7"/>
          <p:cNvSpPr/>
          <p:nvPr/>
        </p:nvSpPr>
        <p:spPr>
          <a:xfrm>
            <a:off x="1051560" y="3657600"/>
            <a:ext cx="2057400" cy="640080"/>
          </a:xfrm>
          <a:prstGeom prst="rect">
            <a:avLst/>
          </a:prstGeom>
          <a:noFill/>
          <a:ln/>
        </p:spPr>
        <p:txBody>
          <a:bodyPr wrap="square" lIns="0" tIns="0" rIns="0" bIns="0" rtlCol="0" anchor="ctr"/>
          <a:lstStyle/>
          <a:p>
            <a:pPr marL="0" indent="0">
              <a:buNone/>
            </a:pPr>
            <a:r>
              <a:rPr lang="en-US" sz="1250" dirty="0">
                <a:solidFill>
                  <a:srgbClr val="102A43"/>
                </a:solidFill>
                <a:latin typeface="Calibri" pitchFamily="34" charset="0"/>
                <a:ea typeface="Calibri" pitchFamily="34" charset="-122"/>
                <a:cs typeface="Calibri" pitchFamily="34" charset="-120"/>
              </a:rPr>
              <a:t>Paralegals &amp; staff</a:t>
            </a:r>
            <a:endParaRPr lang="en-US" sz="1250" dirty="0"/>
          </a:p>
        </p:txBody>
      </p:sp>
      <p:sp>
        <p:nvSpPr>
          <p:cNvPr id="11" name="Shape 8"/>
          <p:cNvSpPr/>
          <p:nvPr/>
        </p:nvSpPr>
        <p:spPr>
          <a:xfrm>
            <a:off x="914400" y="4526280"/>
            <a:ext cx="2286000" cy="640080"/>
          </a:xfrm>
          <a:prstGeom prst="roundRect">
            <a:avLst>
              <a:gd name="adj" fmla="val 8571"/>
            </a:avLst>
          </a:prstGeom>
          <a:solidFill>
            <a:srgbClr val="FAF7EF"/>
          </a:solidFill>
          <a:ln w="12700">
            <a:solidFill>
              <a:srgbClr val="DDD8CB"/>
            </a:solidFill>
            <a:prstDash val="solid"/>
          </a:ln>
        </p:spPr>
        <p:txBody>
          <a:bodyPr/>
          <a:lstStyle/>
          <a:p>
            <a:endParaRPr lang="en-US" dirty="0"/>
          </a:p>
        </p:txBody>
      </p:sp>
      <p:sp>
        <p:nvSpPr>
          <p:cNvPr id="12" name="Text 9"/>
          <p:cNvSpPr/>
          <p:nvPr/>
        </p:nvSpPr>
        <p:spPr>
          <a:xfrm>
            <a:off x="1051560" y="4526280"/>
            <a:ext cx="2057400" cy="640080"/>
          </a:xfrm>
          <a:prstGeom prst="rect">
            <a:avLst/>
          </a:prstGeom>
          <a:noFill/>
          <a:ln/>
        </p:spPr>
        <p:txBody>
          <a:bodyPr wrap="square" lIns="0" tIns="0" rIns="0" bIns="0" rtlCol="0" anchor="ctr"/>
          <a:lstStyle/>
          <a:p>
            <a:pPr marL="0" indent="0">
              <a:buNone/>
            </a:pPr>
            <a:r>
              <a:rPr lang="en-US" sz="1250" dirty="0">
                <a:solidFill>
                  <a:srgbClr val="102A43"/>
                </a:solidFill>
                <a:latin typeface="Calibri" pitchFamily="34" charset="0"/>
                <a:cs typeface="Calibri" pitchFamily="34" charset="-120"/>
              </a:rPr>
              <a:t>Authorized users</a:t>
            </a:r>
          </a:p>
        </p:txBody>
      </p:sp>
      <p:sp>
        <p:nvSpPr>
          <p:cNvPr id="13" name="Shape 10"/>
          <p:cNvSpPr/>
          <p:nvPr/>
        </p:nvSpPr>
        <p:spPr>
          <a:xfrm rot="5400000">
            <a:off x="3429000" y="3703320"/>
            <a:ext cx="274320" cy="219456"/>
          </a:xfrm>
          <a:prstGeom prst="triangle">
            <a:avLst/>
          </a:prstGeom>
          <a:solidFill>
            <a:srgbClr val="2F5F87"/>
          </a:solidFill>
          <a:ln/>
        </p:spPr>
      </p:sp>
      <p:sp>
        <p:nvSpPr>
          <p:cNvPr id="14" name="Shape 11"/>
          <p:cNvSpPr/>
          <p:nvPr/>
        </p:nvSpPr>
        <p:spPr>
          <a:xfrm>
            <a:off x="3977640" y="2697480"/>
            <a:ext cx="4114800" cy="2606040"/>
          </a:xfrm>
          <a:prstGeom prst="roundRect">
            <a:avLst>
              <a:gd name="adj" fmla="val 2807"/>
            </a:avLst>
          </a:prstGeom>
          <a:solidFill>
            <a:srgbClr val="102A43"/>
          </a:solidFill>
          <a:ln w="12700">
            <a:solidFill>
              <a:srgbClr val="102A43"/>
            </a:solidFill>
            <a:prstDash val="solid"/>
          </a:ln>
        </p:spPr>
      </p:sp>
      <p:sp>
        <p:nvSpPr>
          <p:cNvPr id="15" name="Text 12"/>
          <p:cNvSpPr/>
          <p:nvPr/>
        </p:nvSpPr>
        <p:spPr>
          <a:xfrm>
            <a:off x="4251960" y="2880360"/>
            <a:ext cx="3566160" cy="3657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Your AI server</a:t>
            </a:r>
            <a:endParaRPr lang="en-US" sz="1700" dirty="0"/>
          </a:p>
        </p:txBody>
      </p:sp>
      <p:sp>
        <p:nvSpPr>
          <p:cNvPr id="16" name="Shape 13"/>
          <p:cNvSpPr/>
          <p:nvPr/>
        </p:nvSpPr>
        <p:spPr>
          <a:xfrm>
            <a:off x="4279392" y="3429000"/>
            <a:ext cx="82296" cy="82296"/>
          </a:xfrm>
          <a:prstGeom prst="rect">
            <a:avLst/>
          </a:prstGeom>
          <a:solidFill>
            <a:srgbClr val="8FB4D6"/>
          </a:solidFill>
          <a:ln w="6350">
            <a:solidFill>
              <a:srgbClr val="8FB4D6"/>
            </a:solidFill>
            <a:prstDash val="solid"/>
          </a:ln>
        </p:spPr>
      </p:sp>
      <p:sp>
        <p:nvSpPr>
          <p:cNvPr id="17" name="Text 14"/>
          <p:cNvSpPr/>
          <p:nvPr/>
        </p:nvSpPr>
        <p:spPr>
          <a:xfrm>
            <a:off x="4480560" y="3319272"/>
            <a:ext cx="3429000" cy="548640"/>
          </a:xfrm>
          <a:prstGeom prst="rect">
            <a:avLst/>
          </a:prstGeom>
          <a:noFill/>
          <a:ln/>
        </p:spPr>
        <p:txBody>
          <a:bodyPr wrap="square" lIns="0" tIns="0" rIns="0" bIns="0" rtlCol="0" anchor="t"/>
          <a:lstStyle/>
          <a:p>
            <a:pPr marL="0" indent="0">
              <a:lnSpc>
                <a:spcPct val="110000"/>
              </a:lnSpc>
              <a:buNone/>
            </a:pPr>
            <a:r>
              <a:rPr lang="en-US" sz="1200" b="1" dirty="0">
                <a:solidFill>
                  <a:srgbClr val="FFFFFF"/>
                </a:solidFill>
                <a:latin typeface="Calibri" pitchFamily="34" charset="0"/>
                <a:ea typeface="Calibri" pitchFamily="34" charset="-122"/>
                <a:cs typeface="Calibri" pitchFamily="34" charset="-120"/>
              </a:rPr>
              <a:t>Open WebUI — </a:t>
            </a:r>
            <a:r>
              <a:rPr lang="en-US" sz="1200" dirty="0">
                <a:solidFill>
                  <a:srgbClr val="A9B8C7"/>
                </a:solidFill>
                <a:latin typeface="Calibri" pitchFamily="34" charset="0"/>
                <a:ea typeface="Calibri" pitchFamily="34" charset="-122"/>
                <a:cs typeface="Calibri" pitchFamily="34" charset="-120"/>
              </a:rPr>
              <a:t>the chat interface your team signs into</a:t>
            </a:r>
            <a:endParaRPr lang="en-US" sz="1200" dirty="0"/>
          </a:p>
        </p:txBody>
      </p:sp>
      <p:sp>
        <p:nvSpPr>
          <p:cNvPr id="18" name="Shape 15"/>
          <p:cNvSpPr/>
          <p:nvPr/>
        </p:nvSpPr>
        <p:spPr>
          <a:xfrm>
            <a:off x="4279392" y="4032504"/>
            <a:ext cx="82296" cy="82296"/>
          </a:xfrm>
          <a:prstGeom prst="rect">
            <a:avLst/>
          </a:prstGeom>
          <a:solidFill>
            <a:srgbClr val="8FB4D6"/>
          </a:solidFill>
          <a:ln w="6350">
            <a:solidFill>
              <a:srgbClr val="8FB4D6"/>
            </a:solidFill>
            <a:prstDash val="solid"/>
          </a:ln>
        </p:spPr>
      </p:sp>
      <p:sp>
        <p:nvSpPr>
          <p:cNvPr id="19" name="Text 16"/>
          <p:cNvSpPr/>
          <p:nvPr/>
        </p:nvSpPr>
        <p:spPr>
          <a:xfrm>
            <a:off x="4480560" y="3922776"/>
            <a:ext cx="3429000" cy="548640"/>
          </a:xfrm>
          <a:prstGeom prst="rect">
            <a:avLst/>
          </a:prstGeom>
          <a:noFill/>
          <a:ln/>
        </p:spPr>
        <p:txBody>
          <a:bodyPr wrap="square" lIns="0" tIns="0" rIns="0" bIns="0" rtlCol="0" anchor="t"/>
          <a:lstStyle/>
          <a:p>
            <a:pPr marL="0" indent="0">
              <a:lnSpc>
                <a:spcPct val="110000"/>
              </a:lnSpc>
              <a:buNone/>
            </a:pPr>
            <a:r>
              <a:rPr lang="en-US" sz="1200" b="1" dirty="0">
                <a:solidFill>
                  <a:srgbClr val="FFFFFF"/>
                </a:solidFill>
                <a:latin typeface="Calibri" pitchFamily="34" charset="0"/>
                <a:ea typeface="Calibri" pitchFamily="34" charset="-122"/>
                <a:cs typeface="Calibri" pitchFamily="34" charset="-120"/>
              </a:rPr>
              <a:t>A local model — </a:t>
            </a:r>
            <a:r>
              <a:rPr lang="en-US" sz="1200" b="1" dirty="0">
                <a:solidFill>
                  <a:srgbClr val="A9B8C7"/>
                </a:solidFill>
                <a:latin typeface="Calibri" pitchFamily="34" charset="0"/>
                <a:ea typeface="Calibri" pitchFamily="34" charset="-122"/>
                <a:cs typeface="Calibri" pitchFamily="34" charset="-120"/>
              </a:rPr>
              <a:t>GPT</a:t>
            </a:r>
            <a:r>
              <a:rPr lang="en-US" sz="1200" dirty="0">
                <a:solidFill>
                  <a:srgbClr val="A9B8C7"/>
                </a:solidFill>
                <a:latin typeface="Calibri" pitchFamily="34" charset="0"/>
                <a:ea typeface="Calibri" pitchFamily="34" charset="-122"/>
                <a:cs typeface="Calibri" pitchFamily="34" charset="-120"/>
              </a:rPr>
              <a:t>-</a:t>
            </a:r>
            <a:r>
              <a:rPr lang="en-US" sz="1200" dirty="0" err="1">
                <a:solidFill>
                  <a:srgbClr val="A9B8C7"/>
                </a:solidFill>
                <a:latin typeface="Calibri" pitchFamily="34" charset="0"/>
                <a:ea typeface="Calibri" pitchFamily="34" charset="-122"/>
                <a:cs typeface="Calibri" pitchFamily="34" charset="-120"/>
              </a:rPr>
              <a:t>oss</a:t>
            </a:r>
            <a:r>
              <a:rPr lang="en-US" sz="1200" dirty="0">
                <a:solidFill>
                  <a:srgbClr val="A9B8C7"/>
                </a:solidFill>
                <a:latin typeface="Calibri" pitchFamily="34" charset="0"/>
                <a:ea typeface="Calibri" pitchFamily="34" charset="-122"/>
                <a:cs typeface="Calibri" pitchFamily="34" charset="-120"/>
              </a:rPr>
              <a:t>, Qwen or Gemma, selected to best fit your business</a:t>
            </a:r>
            <a:endParaRPr lang="en-US" sz="1200" dirty="0"/>
          </a:p>
        </p:txBody>
      </p:sp>
      <p:sp>
        <p:nvSpPr>
          <p:cNvPr id="20" name="Shape 17"/>
          <p:cNvSpPr/>
          <p:nvPr/>
        </p:nvSpPr>
        <p:spPr>
          <a:xfrm>
            <a:off x="4279392" y="4636008"/>
            <a:ext cx="82296" cy="82296"/>
          </a:xfrm>
          <a:prstGeom prst="rect">
            <a:avLst/>
          </a:prstGeom>
          <a:solidFill>
            <a:srgbClr val="8FB4D6"/>
          </a:solidFill>
          <a:ln w="6350">
            <a:solidFill>
              <a:srgbClr val="8FB4D6"/>
            </a:solidFill>
            <a:prstDash val="solid"/>
          </a:ln>
        </p:spPr>
      </p:sp>
      <p:sp>
        <p:nvSpPr>
          <p:cNvPr id="21" name="Text 18"/>
          <p:cNvSpPr/>
          <p:nvPr/>
        </p:nvSpPr>
        <p:spPr>
          <a:xfrm>
            <a:off x="4480560" y="4526280"/>
            <a:ext cx="3429000" cy="548640"/>
          </a:xfrm>
          <a:prstGeom prst="rect">
            <a:avLst/>
          </a:prstGeom>
          <a:noFill/>
          <a:ln/>
        </p:spPr>
        <p:txBody>
          <a:bodyPr wrap="square" lIns="0" tIns="0" rIns="0" bIns="0" rtlCol="0" anchor="t"/>
          <a:lstStyle/>
          <a:p>
            <a:pPr marL="0" indent="0">
              <a:lnSpc>
                <a:spcPct val="110000"/>
              </a:lnSpc>
              <a:buNone/>
            </a:pPr>
            <a:r>
              <a:rPr lang="en-US" sz="1200" b="1" dirty="0">
                <a:solidFill>
                  <a:srgbClr val="FFFFFF"/>
                </a:solidFill>
                <a:latin typeface="Calibri" pitchFamily="34" charset="0"/>
                <a:ea typeface="Calibri" pitchFamily="34" charset="-122"/>
                <a:cs typeface="Calibri" pitchFamily="34" charset="-120"/>
              </a:rPr>
              <a:t>Admin Account — </a:t>
            </a:r>
            <a:r>
              <a:rPr lang="en-US" sz="1200" dirty="0">
                <a:solidFill>
                  <a:srgbClr val="A9B8C7"/>
                </a:solidFill>
                <a:latin typeface="Calibri" pitchFamily="34" charset="0"/>
                <a:ea typeface="Calibri" pitchFamily="34" charset="-122"/>
                <a:cs typeface="Calibri" pitchFamily="34" charset="-120"/>
              </a:rPr>
              <a:t>Can look at all of the chats and documents from all authorized users </a:t>
            </a:r>
            <a:endParaRPr lang="en-US" sz="1200" dirty="0"/>
          </a:p>
        </p:txBody>
      </p:sp>
      <p:sp>
        <p:nvSpPr>
          <p:cNvPr id="22" name="Text 19"/>
          <p:cNvSpPr/>
          <p:nvPr/>
        </p:nvSpPr>
        <p:spPr>
          <a:xfrm>
            <a:off x="914400" y="5349240"/>
            <a:ext cx="6858000" cy="320040"/>
          </a:xfrm>
          <a:prstGeom prst="rect">
            <a:avLst/>
          </a:prstGeom>
          <a:noFill/>
          <a:ln/>
        </p:spPr>
        <p:txBody>
          <a:bodyPr wrap="square" lIns="0" tIns="0" rIns="0" bIns="0" rtlCol="0" anchor="ctr"/>
          <a:lstStyle/>
          <a:p>
            <a:pPr marL="0" indent="0">
              <a:buNone/>
            </a:pPr>
            <a:r>
              <a:rPr lang="en-US" sz="1250" b="1" dirty="0">
                <a:solidFill>
                  <a:srgbClr val="2F5F87"/>
                </a:solidFill>
                <a:latin typeface="Calibri" pitchFamily="34" charset="0"/>
                <a:ea typeface="Calibri" pitchFamily="34" charset="-122"/>
                <a:cs typeface="Calibri" pitchFamily="34" charset="-120"/>
              </a:rPr>
              <a:t>Everything above happens on hardware in your building.</a:t>
            </a:r>
            <a:endParaRPr lang="en-US" sz="1250" dirty="0"/>
          </a:p>
        </p:txBody>
      </p:sp>
      <p:sp>
        <p:nvSpPr>
          <p:cNvPr id="23" name="Shape 20"/>
          <p:cNvSpPr/>
          <p:nvPr/>
        </p:nvSpPr>
        <p:spPr>
          <a:xfrm>
            <a:off x="8412480" y="3127248"/>
            <a:ext cx="777240" cy="0"/>
          </a:xfrm>
          <a:prstGeom prst="line">
            <a:avLst/>
          </a:prstGeom>
          <a:noFill/>
          <a:ln w="19050">
            <a:solidFill>
              <a:srgbClr val="9AA0A8"/>
            </a:solidFill>
            <a:prstDash val="dash"/>
          </a:ln>
        </p:spPr>
      </p:sp>
      <p:pic>
        <p:nvPicPr>
          <p:cNvPr id="24" name="Image 1" descr="icons/cloud.png"/>
          <p:cNvPicPr>
            <a:picLocks noChangeAspect="1"/>
          </p:cNvPicPr>
          <p:nvPr/>
        </p:nvPicPr>
        <p:blipFill>
          <a:blip r:embed="rId4"/>
          <a:stretch>
            <a:fillRect/>
          </a:stretch>
        </p:blipFill>
        <p:spPr>
          <a:xfrm>
            <a:off x="9281160" y="2788920"/>
            <a:ext cx="685800" cy="685800"/>
          </a:xfrm>
          <a:prstGeom prst="rect">
            <a:avLst/>
          </a:prstGeom>
        </p:spPr>
      </p:pic>
      <p:sp>
        <p:nvSpPr>
          <p:cNvPr id="25" name="Text 21"/>
          <p:cNvSpPr/>
          <p:nvPr/>
        </p:nvSpPr>
        <p:spPr>
          <a:xfrm>
            <a:off x="9281160" y="3611880"/>
            <a:ext cx="2286000" cy="320040"/>
          </a:xfrm>
          <a:prstGeom prst="rect">
            <a:avLst/>
          </a:prstGeom>
          <a:noFill/>
          <a:ln/>
        </p:spPr>
        <p:txBody>
          <a:bodyPr wrap="square" lIns="0" tIns="0" rIns="0" bIns="0" rtlCol="0" anchor="ctr"/>
          <a:lstStyle/>
          <a:p>
            <a:pPr marL="0" indent="0">
              <a:buNone/>
            </a:pPr>
            <a:r>
              <a:rPr lang="en-US" sz="1600" b="1" dirty="0">
                <a:solidFill>
                  <a:srgbClr val="102A43"/>
                </a:solidFill>
                <a:latin typeface="Cambria" pitchFamily="34" charset="0"/>
                <a:ea typeface="Cambria" pitchFamily="34" charset="-122"/>
                <a:cs typeface="Cambria" pitchFamily="34" charset="-120"/>
              </a:rPr>
              <a:t>The public internet</a:t>
            </a:r>
            <a:endParaRPr lang="en-US" sz="1600" dirty="0"/>
          </a:p>
        </p:txBody>
      </p:sp>
      <p:sp>
        <p:nvSpPr>
          <p:cNvPr id="26" name="Text 22"/>
          <p:cNvSpPr/>
          <p:nvPr/>
        </p:nvSpPr>
        <p:spPr>
          <a:xfrm>
            <a:off x="9281160" y="4023360"/>
            <a:ext cx="2286000" cy="1463040"/>
          </a:xfrm>
          <a:prstGeom prst="rect">
            <a:avLst/>
          </a:prstGeom>
          <a:noFill/>
          <a:ln/>
        </p:spPr>
        <p:txBody>
          <a:bodyPr wrap="square" lIns="0" tIns="0" rIns="0" bIns="0" rtlCol="0" anchor="ctr"/>
          <a:lstStyle/>
          <a:p>
            <a:pPr marL="0" indent="0">
              <a:lnSpc>
                <a:spcPct val="115000"/>
              </a:lnSpc>
              <a:buNone/>
            </a:pPr>
            <a:r>
              <a:rPr lang="en-US" sz="1150" dirty="0">
                <a:solidFill>
                  <a:srgbClr val="55606C"/>
                </a:solidFill>
                <a:latin typeface="Calibri" pitchFamily="34" charset="0"/>
                <a:ea typeface="Calibri" pitchFamily="34" charset="-122"/>
                <a:cs typeface="Calibri" pitchFamily="34" charset="-120"/>
              </a:rPr>
              <a:t>Not required. We can block it outright, or open only what you approve — a web-search tool, or a cloud model accessible from anywhere.</a:t>
            </a:r>
            <a:endParaRPr lang="en-US" sz="1150" dirty="0"/>
          </a:p>
        </p:txBody>
      </p:sp>
      <p:sp>
        <p:nvSpPr>
          <p:cNvPr id="27" name="Text 23"/>
          <p:cNvSpPr/>
          <p:nvPr/>
        </p:nvSpPr>
        <p:spPr>
          <a:xfrm>
            <a:off x="750455" y="6095920"/>
            <a:ext cx="10688042" cy="320040"/>
          </a:xfrm>
          <a:prstGeom prst="rect">
            <a:avLst/>
          </a:prstGeom>
          <a:noFill/>
          <a:ln/>
        </p:spPr>
        <p:txBody>
          <a:bodyPr wrap="square" lIns="0" tIns="0" rIns="0" bIns="0" rtlCol="0" anchor="ctr"/>
          <a:lstStyle/>
          <a:p>
            <a:pPr marL="0" indent="0">
              <a:buNone/>
            </a:pPr>
            <a:r>
              <a:rPr lang="en-US" sz="1600" b="1" dirty="0">
                <a:solidFill>
                  <a:srgbClr val="102A43"/>
                </a:solidFill>
                <a:latin typeface="Cambria" pitchFamily="34" charset="0"/>
                <a:ea typeface="Cambria" pitchFamily="34" charset="-122"/>
                <a:cs typeface="Cambria" pitchFamily="34" charset="-120"/>
              </a:rPr>
              <a:t>If your internet connection drops, the AI keeps working.</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AF7EF"/>
        </a:solidFill>
        <a:effectLst/>
      </p:bgPr>
    </p:bg>
    <p:spTree>
      <p:nvGrpSpPr>
        <p:cNvPr id="1" name=""/>
        <p:cNvGrpSpPr/>
        <p:nvPr/>
      </p:nvGrpSpPr>
      <p:grpSpPr>
        <a:xfrm>
          <a:off x="0" y="0"/>
          <a:ext cx="0" cy="0"/>
          <a:chOff x="0" y="0"/>
          <a:chExt cx="0" cy="0"/>
        </a:xfrm>
      </p:grpSpPr>
      <p:pic>
        <p:nvPicPr>
          <p:cNvPr id="2" name="Image 0" descr="logo_ink.png"/>
          <p:cNvPicPr>
            <a:picLocks noChangeAspect="1"/>
          </p:cNvPicPr>
          <p:nvPr/>
        </p:nvPicPr>
        <p:blipFill>
          <a:blip r:embed="rId3"/>
          <a:stretch>
            <a:fillRect/>
          </a:stretch>
        </p:blipFill>
        <p:spPr>
          <a:xfrm>
            <a:off x="10893000" y="438912"/>
            <a:ext cx="525359" cy="420624"/>
          </a:xfrm>
          <a:prstGeom prst="rect">
            <a:avLst/>
          </a:prstGeom>
        </p:spPr>
      </p:pic>
      <p:sp>
        <p:nvSpPr>
          <p:cNvPr id="3" name="Text 0"/>
          <p:cNvSpPr/>
          <p:nvPr/>
        </p:nvSpPr>
        <p:spPr>
          <a:xfrm>
            <a:off x="640080" y="566928"/>
            <a:ext cx="10908792" cy="256032"/>
          </a:xfrm>
          <a:prstGeom prst="rect">
            <a:avLst/>
          </a:prstGeom>
          <a:noFill/>
          <a:ln/>
        </p:spPr>
        <p:txBody>
          <a:bodyPr wrap="square" lIns="0" tIns="0" rIns="0" bIns="0" rtlCol="0" anchor="ctr"/>
          <a:lstStyle/>
          <a:p>
            <a:pPr marL="0" indent="0">
              <a:buNone/>
            </a:pPr>
            <a:r>
              <a:rPr lang="en-US" sz="1100" b="1" kern="0" spc="300" dirty="0">
                <a:solidFill>
                  <a:srgbClr val="2F5F87"/>
                </a:solidFill>
                <a:latin typeface="Calibri" pitchFamily="34" charset="0"/>
                <a:ea typeface="Calibri" pitchFamily="34" charset="-122"/>
                <a:cs typeface="Calibri" pitchFamily="34" charset="-120"/>
              </a:rPr>
              <a:t>WHAT YOUR TEAM SEES</a:t>
            </a:r>
            <a:endParaRPr lang="en-US" sz="1100" dirty="0"/>
          </a:p>
        </p:txBody>
      </p:sp>
      <p:sp>
        <p:nvSpPr>
          <p:cNvPr id="4" name="Text 1"/>
          <p:cNvSpPr/>
          <p:nvPr/>
        </p:nvSpPr>
        <p:spPr>
          <a:xfrm>
            <a:off x="640080" y="960120"/>
            <a:ext cx="10908792" cy="731520"/>
          </a:xfrm>
          <a:prstGeom prst="rect">
            <a:avLst/>
          </a:prstGeom>
          <a:noFill/>
          <a:ln/>
        </p:spPr>
        <p:txBody>
          <a:bodyPr wrap="square" lIns="0" tIns="0" rIns="0" bIns="0" rtlCol="0" anchor="t"/>
          <a:lstStyle/>
          <a:p>
            <a:pPr marL="0" indent="0">
              <a:lnSpc>
                <a:spcPct val="102000"/>
              </a:lnSpc>
              <a:buNone/>
            </a:pPr>
            <a:r>
              <a:rPr lang="en-US" sz="3400" b="1" dirty="0">
                <a:solidFill>
                  <a:srgbClr val="102A43"/>
                </a:solidFill>
                <a:latin typeface="Cambria" pitchFamily="34" charset="0"/>
                <a:ea typeface="Cambria" pitchFamily="34" charset="-122"/>
                <a:cs typeface="Cambria" pitchFamily="34" charset="-120"/>
              </a:rPr>
              <a:t>It looks like the tool they are already using</a:t>
            </a:r>
            <a:endParaRPr lang="en-US" sz="3400" dirty="0"/>
          </a:p>
        </p:txBody>
      </p:sp>
      <p:sp>
        <p:nvSpPr>
          <p:cNvPr id="5" name="Shape 2"/>
          <p:cNvSpPr/>
          <p:nvPr/>
        </p:nvSpPr>
        <p:spPr>
          <a:xfrm>
            <a:off x="640080" y="2148840"/>
            <a:ext cx="5760720" cy="3931920"/>
          </a:xfrm>
          <a:prstGeom prst="roundRect">
            <a:avLst>
              <a:gd name="adj" fmla="val 1860"/>
            </a:avLst>
          </a:prstGeom>
          <a:solidFill>
            <a:srgbClr val="FFFFFF"/>
          </a:solidFill>
          <a:ln w="12700">
            <a:solidFill>
              <a:srgbClr val="DDD8CB"/>
            </a:solidFill>
            <a:prstDash val="solid"/>
          </a:ln>
          <a:effectLst>
            <a:outerShdw blurRad="127000" dist="25400" dir="5400000" algn="bl" rotWithShape="0">
              <a:srgbClr val="000000">
                <a:alpha val="9000"/>
              </a:srgbClr>
            </a:outerShdw>
          </a:effectLst>
        </p:spPr>
      </p:sp>
      <p:sp>
        <p:nvSpPr>
          <p:cNvPr id="6" name="Shape 3"/>
          <p:cNvSpPr/>
          <p:nvPr/>
        </p:nvSpPr>
        <p:spPr>
          <a:xfrm>
            <a:off x="749808" y="2258568"/>
            <a:ext cx="1371600" cy="3712464"/>
          </a:xfrm>
          <a:prstGeom prst="roundRect">
            <a:avLst>
              <a:gd name="adj" fmla="val 4000"/>
            </a:avLst>
          </a:prstGeom>
          <a:solidFill>
            <a:srgbClr val="102A43"/>
          </a:solidFill>
          <a:ln w="6350">
            <a:solidFill>
              <a:srgbClr val="102A43"/>
            </a:solidFill>
            <a:prstDash val="solid"/>
          </a:ln>
        </p:spPr>
      </p:sp>
      <p:sp>
        <p:nvSpPr>
          <p:cNvPr id="7" name="Shape 4"/>
          <p:cNvSpPr/>
          <p:nvPr/>
        </p:nvSpPr>
        <p:spPr>
          <a:xfrm>
            <a:off x="877824" y="2487168"/>
            <a:ext cx="1115568" cy="155448"/>
          </a:xfrm>
          <a:prstGeom prst="roundRect">
            <a:avLst>
              <a:gd name="adj" fmla="val 17647"/>
            </a:avLst>
          </a:prstGeom>
          <a:solidFill>
            <a:srgbClr val="8FB4D6"/>
          </a:solidFill>
          <a:ln w="6350">
            <a:solidFill>
              <a:srgbClr val="8FB4D6"/>
            </a:solidFill>
            <a:prstDash val="solid"/>
          </a:ln>
        </p:spPr>
      </p:sp>
      <p:sp>
        <p:nvSpPr>
          <p:cNvPr id="8" name="Shape 5"/>
          <p:cNvSpPr/>
          <p:nvPr/>
        </p:nvSpPr>
        <p:spPr>
          <a:xfrm>
            <a:off x="877824" y="2761488"/>
            <a:ext cx="1115568" cy="155448"/>
          </a:xfrm>
          <a:prstGeom prst="roundRect">
            <a:avLst>
              <a:gd name="adj" fmla="val 17647"/>
            </a:avLst>
          </a:prstGeom>
          <a:solidFill>
            <a:srgbClr val="2A4C6E"/>
          </a:solidFill>
          <a:ln w="6350">
            <a:solidFill>
              <a:srgbClr val="2A4C6E"/>
            </a:solidFill>
            <a:prstDash val="solid"/>
          </a:ln>
        </p:spPr>
      </p:sp>
      <p:sp>
        <p:nvSpPr>
          <p:cNvPr id="9" name="Shape 6"/>
          <p:cNvSpPr/>
          <p:nvPr/>
        </p:nvSpPr>
        <p:spPr>
          <a:xfrm>
            <a:off x="877824" y="3035808"/>
            <a:ext cx="1115568" cy="155448"/>
          </a:xfrm>
          <a:prstGeom prst="roundRect">
            <a:avLst>
              <a:gd name="adj" fmla="val 17647"/>
            </a:avLst>
          </a:prstGeom>
          <a:solidFill>
            <a:srgbClr val="2A4C6E"/>
          </a:solidFill>
          <a:ln w="6350">
            <a:solidFill>
              <a:srgbClr val="2A4C6E"/>
            </a:solidFill>
            <a:prstDash val="solid"/>
          </a:ln>
        </p:spPr>
      </p:sp>
      <p:sp>
        <p:nvSpPr>
          <p:cNvPr id="10" name="Shape 7"/>
          <p:cNvSpPr/>
          <p:nvPr/>
        </p:nvSpPr>
        <p:spPr>
          <a:xfrm>
            <a:off x="877824" y="3310128"/>
            <a:ext cx="1115568" cy="155448"/>
          </a:xfrm>
          <a:prstGeom prst="roundRect">
            <a:avLst>
              <a:gd name="adj" fmla="val 17647"/>
            </a:avLst>
          </a:prstGeom>
          <a:solidFill>
            <a:srgbClr val="2A4C6E"/>
          </a:solidFill>
          <a:ln w="6350">
            <a:solidFill>
              <a:srgbClr val="2A4C6E"/>
            </a:solidFill>
            <a:prstDash val="solid"/>
          </a:ln>
        </p:spPr>
      </p:sp>
      <p:sp>
        <p:nvSpPr>
          <p:cNvPr id="11" name="Text 8"/>
          <p:cNvSpPr/>
          <p:nvPr/>
        </p:nvSpPr>
        <p:spPr>
          <a:xfrm>
            <a:off x="877824" y="5532120"/>
            <a:ext cx="1188720" cy="228600"/>
          </a:xfrm>
          <a:prstGeom prst="rect">
            <a:avLst/>
          </a:prstGeom>
          <a:noFill/>
          <a:ln/>
        </p:spPr>
        <p:txBody>
          <a:bodyPr wrap="square" lIns="0" tIns="0" rIns="0" bIns="0" rtlCol="0" anchor="ctr"/>
          <a:lstStyle/>
          <a:p>
            <a:pPr marL="0" indent="0">
              <a:buNone/>
            </a:pPr>
            <a:r>
              <a:rPr lang="en-US" sz="800" dirty="0">
                <a:solidFill>
                  <a:srgbClr val="A9B8C7"/>
                </a:solidFill>
                <a:latin typeface="Calibri" pitchFamily="34" charset="0"/>
                <a:ea typeface="Calibri" pitchFamily="34" charset="-122"/>
                <a:cs typeface="Calibri" pitchFamily="34" charset="-120"/>
              </a:rPr>
              <a:t>Hall &amp; Rivera LLP</a:t>
            </a:r>
            <a:endParaRPr lang="en-US" sz="800" dirty="0"/>
          </a:p>
        </p:txBody>
      </p:sp>
      <p:sp>
        <p:nvSpPr>
          <p:cNvPr id="12" name="Shape 9"/>
          <p:cNvSpPr/>
          <p:nvPr/>
        </p:nvSpPr>
        <p:spPr>
          <a:xfrm>
            <a:off x="3291840" y="2450592"/>
            <a:ext cx="2331720" cy="475488"/>
          </a:xfrm>
          <a:prstGeom prst="roundRect">
            <a:avLst>
              <a:gd name="adj" fmla="val 15385"/>
            </a:avLst>
          </a:prstGeom>
          <a:solidFill>
            <a:srgbClr val="DEE8F1"/>
          </a:solidFill>
          <a:ln w="6350">
            <a:solidFill>
              <a:srgbClr val="CBDAE7"/>
            </a:solidFill>
            <a:prstDash val="solid"/>
          </a:ln>
        </p:spPr>
      </p:sp>
      <p:sp>
        <p:nvSpPr>
          <p:cNvPr id="13" name="Text 10"/>
          <p:cNvSpPr/>
          <p:nvPr/>
        </p:nvSpPr>
        <p:spPr>
          <a:xfrm>
            <a:off x="3383280" y="2450592"/>
            <a:ext cx="2148840" cy="475488"/>
          </a:xfrm>
          <a:prstGeom prst="rect">
            <a:avLst/>
          </a:prstGeom>
          <a:noFill/>
          <a:ln/>
        </p:spPr>
        <p:txBody>
          <a:bodyPr wrap="square" lIns="0" tIns="0" rIns="0" bIns="0" rtlCol="0" anchor="ctr"/>
          <a:lstStyle/>
          <a:p>
            <a:pPr marL="0" indent="0">
              <a:buNone/>
            </a:pPr>
            <a:r>
              <a:rPr lang="en-US" sz="850" dirty="0">
                <a:solidFill>
                  <a:srgbClr val="102A43"/>
                </a:solidFill>
                <a:latin typeface="Calibri" pitchFamily="34" charset="0"/>
                <a:ea typeface="Calibri" pitchFamily="34" charset="-122"/>
                <a:cs typeface="Calibri" pitchFamily="34" charset="-120"/>
              </a:rPr>
              <a:t>Summarise this deposition — admissions only</a:t>
            </a:r>
            <a:endParaRPr lang="en-US" sz="850" dirty="0"/>
          </a:p>
        </p:txBody>
      </p:sp>
      <p:sp>
        <p:nvSpPr>
          <p:cNvPr id="14" name="Shape 11"/>
          <p:cNvSpPr/>
          <p:nvPr/>
        </p:nvSpPr>
        <p:spPr>
          <a:xfrm>
            <a:off x="2286000" y="3127248"/>
            <a:ext cx="3291840" cy="1371600"/>
          </a:xfrm>
          <a:prstGeom prst="roundRect">
            <a:avLst>
              <a:gd name="adj" fmla="val 5333"/>
            </a:avLst>
          </a:prstGeom>
          <a:solidFill>
            <a:srgbClr val="F1F3F6"/>
          </a:solidFill>
          <a:ln w="6350">
            <a:solidFill>
              <a:srgbClr val="F1F3F6"/>
            </a:solidFill>
            <a:prstDash val="solid"/>
          </a:ln>
        </p:spPr>
      </p:sp>
      <p:sp>
        <p:nvSpPr>
          <p:cNvPr id="15" name="Shape 12"/>
          <p:cNvSpPr/>
          <p:nvPr/>
        </p:nvSpPr>
        <p:spPr>
          <a:xfrm>
            <a:off x="2468880" y="3291840"/>
            <a:ext cx="2926080" cy="109728"/>
          </a:xfrm>
          <a:prstGeom prst="roundRect">
            <a:avLst>
              <a:gd name="adj" fmla="val 16667"/>
            </a:avLst>
          </a:prstGeom>
          <a:solidFill>
            <a:srgbClr val="D3DAE2"/>
          </a:solidFill>
          <a:ln w="6350">
            <a:solidFill>
              <a:srgbClr val="D3DAE2"/>
            </a:solidFill>
            <a:prstDash val="solid"/>
          </a:ln>
        </p:spPr>
      </p:sp>
      <p:sp>
        <p:nvSpPr>
          <p:cNvPr id="16" name="Shape 13"/>
          <p:cNvSpPr/>
          <p:nvPr/>
        </p:nvSpPr>
        <p:spPr>
          <a:xfrm>
            <a:off x="2468880" y="3529584"/>
            <a:ext cx="2788920" cy="109728"/>
          </a:xfrm>
          <a:prstGeom prst="roundRect">
            <a:avLst>
              <a:gd name="adj" fmla="val 16667"/>
            </a:avLst>
          </a:prstGeom>
          <a:solidFill>
            <a:srgbClr val="D3DAE2"/>
          </a:solidFill>
          <a:ln w="6350">
            <a:solidFill>
              <a:srgbClr val="D3DAE2"/>
            </a:solidFill>
            <a:prstDash val="solid"/>
          </a:ln>
        </p:spPr>
      </p:sp>
      <p:sp>
        <p:nvSpPr>
          <p:cNvPr id="17" name="Shape 14"/>
          <p:cNvSpPr/>
          <p:nvPr/>
        </p:nvSpPr>
        <p:spPr>
          <a:xfrm>
            <a:off x="2468880" y="3767328"/>
            <a:ext cx="2971800" cy="109728"/>
          </a:xfrm>
          <a:prstGeom prst="roundRect">
            <a:avLst>
              <a:gd name="adj" fmla="val 16667"/>
            </a:avLst>
          </a:prstGeom>
          <a:solidFill>
            <a:srgbClr val="D3DAE2"/>
          </a:solidFill>
          <a:ln w="6350">
            <a:solidFill>
              <a:srgbClr val="D3DAE2"/>
            </a:solidFill>
            <a:prstDash val="solid"/>
          </a:ln>
        </p:spPr>
      </p:sp>
      <p:sp>
        <p:nvSpPr>
          <p:cNvPr id="18" name="Shape 15"/>
          <p:cNvSpPr/>
          <p:nvPr/>
        </p:nvSpPr>
        <p:spPr>
          <a:xfrm>
            <a:off x="2468880" y="4005072"/>
            <a:ext cx="2377440" cy="109728"/>
          </a:xfrm>
          <a:prstGeom prst="roundRect">
            <a:avLst>
              <a:gd name="adj" fmla="val 16667"/>
            </a:avLst>
          </a:prstGeom>
          <a:solidFill>
            <a:srgbClr val="D3DAE2"/>
          </a:solidFill>
          <a:ln w="6350">
            <a:solidFill>
              <a:srgbClr val="D3DAE2"/>
            </a:solidFill>
            <a:prstDash val="solid"/>
          </a:ln>
        </p:spPr>
      </p:sp>
      <p:sp>
        <p:nvSpPr>
          <p:cNvPr id="19" name="Shape 16"/>
          <p:cNvSpPr/>
          <p:nvPr/>
        </p:nvSpPr>
        <p:spPr>
          <a:xfrm>
            <a:off x="2468880" y="4242816"/>
            <a:ext cx="1737360" cy="109728"/>
          </a:xfrm>
          <a:prstGeom prst="roundRect">
            <a:avLst>
              <a:gd name="adj" fmla="val 16667"/>
            </a:avLst>
          </a:prstGeom>
          <a:solidFill>
            <a:srgbClr val="D3DAE2"/>
          </a:solidFill>
          <a:ln w="6350">
            <a:solidFill>
              <a:srgbClr val="D3DAE2"/>
            </a:solidFill>
            <a:prstDash val="solid"/>
          </a:ln>
        </p:spPr>
      </p:sp>
      <p:sp>
        <p:nvSpPr>
          <p:cNvPr id="20" name="Shape 17"/>
          <p:cNvSpPr/>
          <p:nvPr/>
        </p:nvSpPr>
        <p:spPr>
          <a:xfrm>
            <a:off x="3794760" y="4681728"/>
            <a:ext cx="1828800" cy="411480"/>
          </a:xfrm>
          <a:prstGeom prst="roundRect">
            <a:avLst>
              <a:gd name="adj" fmla="val 17778"/>
            </a:avLst>
          </a:prstGeom>
          <a:solidFill>
            <a:srgbClr val="DEE8F1"/>
          </a:solidFill>
          <a:ln w="6350">
            <a:solidFill>
              <a:srgbClr val="CBDAE7"/>
            </a:solidFill>
            <a:prstDash val="solid"/>
          </a:ln>
        </p:spPr>
      </p:sp>
      <p:sp>
        <p:nvSpPr>
          <p:cNvPr id="21" name="Text 18"/>
          <p:cNvSpPr/>
          <p:nvPr/>
        </p:nvSpPr>
        <p:spPr>
          <a:xfrm>
            <a:off x="3886200" y="4681728"/>
            <a:ext cx="1645920" cy="411480"/>
          </a:xfrm>
          <a:prstGeom prst="rect">
            <a:avLst/>
          </a:prstGeom>
          <a:noFill/>
          <a:ln/>
        </p:spPr>
        <p:txBody>
          <a:bodyPr wrap="square" lIns="0" tIns="0" rIns="0" bIns="0" rtlCol="0" anchor="ctr"/>
          <a:lstStyle/>
          <a:p>
            <a:pPr marL="0" indent="0">
              <a:buNone/>
            </a:pPr>
            <a:r>
              <a:rPr lang="en-US" sz="850" dirty="0">
                <a:solidFill>
                  <a:srgbClr val="102A43"/>
                </a:solidFill>
                <a:latin typeface="Calibri" pitchFamily="34" charset="0"/>
                <a:ea typeface="Calibri" pitchFamily="34" charset="-122"/>
                <a:cs typeface="Calibri" pitchFamily="34" charset="-120"/>
              </a:rPr>
              <a:t>Which exhibits does he dispute?</a:t>
            </a:r>
            <a:endParaRPr lang="en-US" sz="850" dirty="0"/>
          </a:p>
        </p:txBody>
      </p:sp>
      <p:sp>
        <p:nvSpPr>
          <p:cNvPr id="22" name="Shape 19"/>
          <p:cNvSpPr/>
          <p:nvPr/>
        </p:nvSpPr>
        <p:spPr>
          <a:xfrm>
            <a:off x="2286000" y="5321808"/>
            <a:ext cx="3291840" cy="457200"/>
          </a:xfrm>
          <a:prstGeom prst="roundRect">
            <a:avLst>
              <a:gd name="adj" fmla="val 18000"/>
            </a:avLst>
          </a:prstGeom>
          <a:solidFill>
            <a:srgbClr val="FFFFFF"/>
          </a:solidFill>
          <a:ln w="12700">
            <a:solidFill>
              <a:srgbClr val="D5DCE4"/>
            </a:solidFill>
            <a:prstDash val="solid"/>
          </a:ln>
        </p:spPr>
      </p:sp>
      <p:sp>
        <p:nvSpPr>
          <p:cNvPr id="23" name="Text 20"/>
          <p:cNvSpPr/>
          <p:nvPr/>
        </p:nvSpPr>
        <p:spPr>
          <a:xfrm>
            <a:off x="2423160" y="5321808"/>
            <a:ext cx="2651760" cy="457200"/>
          </a:xfrm>
          <a:prstGeom prst="rect">
            <a:avLst/>
          </a:prstGeom>
          <a:noFill/>
          <a:ln/>
        </p:spPr>
        <p:txBody>
          <a:bodyPr wrap="square" lIns="0" tIns="0" rIns="0" bIns="0" rtlCol="0" anchor="ctr"/>
          <a:lstStyle/>
          <a:p>
            <a:pPr marL="0" indent="0">
              <a:buNone/>
            </a:pPr>
            <a:r>
              <a:rPr lang="en-US" sz="900" dirty="0">
                <a:solidFill>
                  <a:srgbClr val="93A0AC"/>
                </a:solidFill>
                <a:latin typeface="Calibri" pitchFamily="34" charset="0"/>
                <a:ea typeface="Calibri" pitchFamily="34" charset="-122"/>
                <a:cs typeface="Calibri" pitchFamily="34" charset="-120"/>
              </a:rPr>
              <a:t>Ask anything — it stays in the office</a:t>
            </a:r>
            <a:endParaRPr lang="en-US" sz="900" dirty="0"/>
          </a:p>
        </p:txBody>
      </p:sp>
      <p:sp>
        <p:nvSpPr>
          <p:cNvPr id="24" name="Shape 21"/>
          <p:cNvSpPr/>
          <p:nvPr/>
        </p:nvSpPr>
        <p:spPr>
          <a:xfrm>
            <a:off x="5166360" y="5413248"/>
            <a:ext cx="274320" cy="274320"/>
          </a:xfrm>
          <a:prstGeom prst="roundRect">
            <a:avLst>
              <a:gd name="adj" fmla="val 16667"/>
            </a:avLst>
          </a:prstGeom>
          <a:solidFill>
            <a:srgbClr val="2F5F87"/>
          </a:solidFill>
          <a:ln w="6350">
            <a:solidFill>
              <a:srgbClr val="2F5F87"/>
            </a:solidFill>
            <a:prstDash val="solid"/>
          </a:ln>
        </p:spPr>
      </p:sp>
      <p:sp>
        <p:nvSpPr>
          <p:cNvPr id="25" name="Text 22"/>
          <p:cNvSpPr/>
          <p:nvPr/>
        </p:nvSpPr>
        <p:spPr>
          <a:xfrm>
            <a:off x="6720840" y="2240280"/>
            <a:ext cx="4846320" cy="274320"/>
          </a:xfrm>
          <a:prstGeom prst="rect">
            <a:avLst/>
          </a:prstGeom>
          <a:noFill/>
          <a:ln/>
        </p:spPr>
        <p:txBody>
          <a:bodyPr wrap="square" lIns="0" tIns="0" rIns="0" bIns="0" rtlCol="0" anchor="ctr"/>
          <a:lstStyle/>
          <a:p>
            <a:pPr marL="0" indent="0">
              <a:buNone/>
            </a:pPr>
            <a:r>
              <a:rPr lang="en-US" sz="1500" b="1" dirty="0">
                <a:solidFill>
                  <a:srgbClr val="102A43"/>
                </a:solidFill>
                <a:latin typeface="Cambria" pitchFamily="34" charset="0"/>
                <a:ea typeface="Cambria" pitchFamily="34" charset="-122"/>
                <a:cs typeface="Cambria" pitchFamily="34" charset="-120"/>
              </a:rPr>
              <a:t>Familiar on day one</a:t>
            </a:r>
            <a:endParaRPr lang="en-US" sz="1500" dirty="0"/>
          </a:p>
        </p:txBody>
      </p:sp>
      <p:sp>
        <p:nvSpPr>
          <p:cNvPr id="26" name="Text 23"/>
          <p:cNvSpPr/>
          <p:nvPr/>
        </p:nvSpPr>
        <p:spPr>
          <a:xfrm>
            <a:off x="6720840" y="2523744"/>
            <a:ext cx="4828032" cy="475488"/>
          </a:xfrm>
          <a:prstGeom prst="rect">
            <a:avLst/>
          </a:prstGeom>
          <a:noFill/>
          <a:ln/>
        </p:spPr>
        <p:txBody>
          <a:bodyPr wrap="square" lIns="0" tIns="0" rIns="0" bIns="0" rtlCol="0" anchor="ctr"/>
          <a:lstStyle/>
          <a:p>
            <a:pPr marL="0" indent="0">
              <a:lnSpc>
                <a:spcPct val="112000"/>
              </a:lnSpc>
              <a:buNone/>
            </a:pPr>
            <a:r>
              <a:rPr lang="en-US" sz="1200" dirty="0">
                <a:solidFill>
                  <a:srgbClr val="55606C"/>
                </a:solidFill>
                <a:latin typeface="Calibri" pitchFamily="34" charset="0"/>
                <a:ea typeface="Calibri" pitchFamily="34" charset="-122"/>
                <a:cs typeface="Calibri" pitchFamily="34" charset="-120"/>
              </a:rPr>
              <a:t>A chat window with a message box. Nobody needs to learn a new way of working.</a:t>
            </a:r>
            <a:endParaRPr lang="en-US" sz="1200" dirty="0"/>
          </a:p>
        </p:txBody>
      </p:sp>
      <p:sp>
        <p:nvSpPr>
          <p:cNvPr id="27" name="Text 24"/>
          <p:cNvSpPr/>
          <p:nvPr/>
        </p:nvSpPr>
        <p:spPr>
          <a:xfrm>
            <a:off x="6720840" y="3035808"/>
            <a:ext cx="4846320" cy="274320"/>
          </a:xfrm>
          <a:prstGeom prst="rect">
            <a:avLst/>
          </a:prstGeom>
          <a:noFill/>
          <a:ln/>
        </p:spPr>
        <p:txBody>
          <a:bodyPr wrap="square" lIns="0" tIns="0" rIns="0" bIns="0" rtlCol="0" anchor="ctr"/>
          <a:lstStyle/>
          <a:p>
            <a:pPr marL="0" indent="0">
              <a:buNone/>
            </a:pPr>
            <a:r>
              <a:rPr lang="en-US" sz="1500" b="1" dirty="0">
                <a:solidFill>
                  <a:srgbClr val="102A43"/>
                </a:solidFill>
                <a:latin typeface="Cambria" pitchFamily="34" charset="0"/>
                <a:ea typeface="Cambria" pitchFamily="34" charset="-122"/>
                <a:cs typeface="Cambria" pitchFamily="34" charset="-120"/>
              </a:rPr>
              <a:t>Their own sign-in</a:t>
            </a:r>
            <a:endParaRPr lang="en-US" sz="1500" dirty="0"/>
          </a:p>
        </p:txBody>
      </p:sp>
      <p:sp>
        <p:nvSpPr>
          <p:cNvPr id="28" name="Text 25"/>
          <p:cNvSpPr/>
          <p:nvPr/>
        </p:nvSpPr>
        <p:spPr>
          <a:xfrm>
            <a:off x="6720840" y="3319272"/>
            <a:ext cx="4828032" cy="475488"/>
          </a:xfrm>
          <a:prstGeom prst="rect">
            <a:avLst/>
          </a:prstGeom>
          <a:noFill/>
          <a:ln/>
        </p:spPr>
        <p:txBody>
          <a:bodyPr wrap="square" lIns="0" tIns="0" rIns="0" bIns="0" rtlCol="0" anchor="ctr"/>
          <a:lstStyle/>
          <a:p>
            <a:pPr marL="0" indent="0">
              <a:lnSpc>
                <a:spcPct val="112000"/>
              </a:lnSpc>
              <a:buNone/>
            </a:pPr>
            <a:r>
              <a:rPr lang="en-US" sz="1200" dirty="0">
                <a:solidFill>
                  <a:srgbClr val="55606C"/>
                </a:solidFill>
                <a:latin typeface="Calibri" pitchFamily="34" charset="0"/>
                <a:ea typeface="Calibri" pitchFamily="34" charset="-122"/>
                <a:cs typeface="Calibri" pitchFamily="34" charset="-120"/>
              </a:rPr>
              <a:t>Each person has an account. What they can reach is set by their role in the firm.</a:t>
            </a:r>
            <a:endParaRPr lang="en-US" sz="1200" dirty="0"/>
          </a:p>
        </p:txBody>
      </p:sp>
      <p:sp>
        <p:nvSpPr>
          <p:cNvPr id="29" name="Text 26"/>
          <p:cNvSpPr/>
          <p:nvPr/>
        </p:nvSpPr>
        <p:spPr>
          <a:xfrm>
            <a:off x="6720840" y="3831336"/>
            <a:ext cx="4846320" cy="274320"/>
          </a:xfrm>
          <a:prstGeom prst="rect">
            <a:avLst/>
          </a:prstGeom>
          <a:noFill/>
          <a:ln/>
        </p:spPr>
        <p:txBody>
          <a:bodyPr wrap="square" lIns="0" tIns="0" rIns="0" bIns="0" rtlCol="0" anchor="ctr"/>
          <a:lstStyle/>
          <a:p>
            <a:pPr marL="0" indent="0">
              <a:buNone/>
            </a:pPr>
            <a:r>
              <a:rPr lang="en-US" sz="1500" b="1" dirty="0">
                <a:solidFill>
                  <a:srgbClr val="102A43"/>
                </a:solidFill>
                <a:latin typeface="Cambria" pitchFamily="34" charset="0"/>
                <a:ea typeface="Cambria" pitchFamily="34" charset="-122"/>
                <a:cs typeface="Cambria" pitchFamily="34" charset="-120"/>
              </a:rPr>
              <a:t>A shared prompt library</a:t>
            </a:r>
            <a:endParaRPr lang="en-US" sz="1500" dirty="0"/>
          </a:p>
        </p:txBody>
      </p:sp>
      <p:sp>
        <p:nvSpPr>
          <p:cNvPr id="30" name="Text 27"/>
          <p:cNvSpPr/>
          <p:nvPr/>
        </p:nvSpPr>
        <p:spPr>
          <a:xfrm>
            <a:off x="6720840" y="4114800"/>
            <a:ext cx="4828032" cy="475488"/>
          </a:xfrm>
          <a:prstGeom prst="rect">
            <a:avLst/>
          </a:prstGeom>
          <a:noFill/>
          <a:ln/>
        </p:spPr>
        <p:txBody>
          <a:bodyPr wrap="square" lIns="0" tIns="0" rIns="0" bIns="0" rtlCol="0" anchor="ctr"/>
          <a:lstStyle/>
          <a:p>
            <a:pPr marL="0" indent="0">
              <a:lnSpc>
                <a:spcPct val="112000"/>
              </a:lnSpc>
              <a:buNone/>
            </a:pPr>
            <a:r>
              <a:rPr lang="en-US" sz="1200" dirty="0">
                <a:solidFill>
                  <a:srgbClr val="55606C"/>
                </a:solidFill>
                <a:latin typeface="Calibri" pitchFamily="34" charset="0"/>
                <a:ea typeface="Calibri" pitchFamily="34" charset="-122"/>
                <a:cs typeface="Calibri" pitchFamily="34" charset="-120"/>
              </a:rPr>
              <a:t>The firm’s best prompts written once, then available to everyone as a single click.</a:t>
            </a:r>
            <a:endParaRPr lang="en-US" sz="1200" dirty="0"/>
          </a:p>
        </p:txBody>
      </p:sp>
      <p:sp>
        <p:nvSpPr>
          <p:cNvPr id="31" name="Text 28"/>
          <p:cNvSpPr/>
          <p:nvPr/>
        </p:nvSpPr>
        <p:spPr>
          <a:xfrm>
            <a:off x="6720840" y="4626864"/>
            <a:ext cx="4846320" cy="274320"/>
          </a:xfrm>
          <a:prstGeom prst="rect">
            <a:avLst/>
          </a:prstGeom>
          <a:noFill/>
          <a:ln/>
        </p:spPr>
        <p:txBody>
          <a:bodyPr wrap="square" lIns="0" tIns="0" rIns="0" bIns="0" rtlCol="0" anchor="ctr"/>
          <a:lstStyle/>
          <a:p>
            <a:pPr marL="0" indent="0">
              <a:buNone/>
            </a:pPr>
            <a:r>
              <a:rPr lang="en-US" sz="1500" b="1" dirty="0">
                <a:solidFill>
                  <a:srgbClr val="102A43"/>
                </a:solidFill>
                <a:latin typeface="Cambria" pitchFamily="34" charset="0"/>
                <a:ea typeface="Cambria" pitchFamily="34" charset="-122"/>
                <a:cs typeface="Cambria" pitchFamily="34" charset="-120"/>
              </a:rPr>
              <a:t>Answers from your own files</a:t>
            </a:r>
            <a:endParaRPr lang="en-US" sz="1500" dirty="0"/>
          </a:p>
        </p:txBody>
      </p:sp>
      <p:sp>
        <p:nvSpPr>
          <p:cNvPr id="32" name="Text 29"/>
          <p:cNvSpPr/>
          <p:nvPr/>
        </p:nvSpPr>
        <p:spPr>
          <a:xfrm>
            <a:off x="6720840" y="4910328"/>
            <a:ext cx="4828032" cy="475488"/>
          </a:xfrm>
          <a:prstGeom prst="rect">
            <a:avLst/>
          </a:prstGeom>
          <a:noFill/>
          <a:ln/>
        </p:spPr>
        <p:txBody>
          <a:bodyPr wrap="square" lIns="0" tIns="0" rIns="0" bIns="0" rtlCol="0" anchor="ctr"/>
          <a:lstStyle/>
          <a:p>
            <a:pPr marL="0" indent="0">
              <a:lnSpc>
                <a:spcPct val="112000"/>
              </a:lnSpc>
              <a:buNone/>
            </a:pPr>
            <a:r>
              <a:rPr lang="en-US" sz="1200" dirty="0">
                <a:solidFill>
                  <a:srgbClr val="55606C"/>
                </a:solidFill>
                <a:latin typeface="Calibri" pitchFamily="34" charset="0"/>
                <a:ea typeface="Calibri" pitchFamily="34" charset="-122"/>
                <a:cs typeface="Calibri" pitchFamily="34" charset="-120"/>
              </a:rPr>
              <a:t>Load various files and ask questions about it directly.</a:t>
            </a:r>
            <a:endParaRPr lang="en-US" sz="1200" dirty="0"/>
          </a:p>
        </p:txBody>
      </p:sp>
      <p:sp>
        <p:nvSpPr>
          <p:cNvPr id="33" name="Text 30"/>
          <p:cNvSpPr/>
          <p:nvPr/>
        </p:nvSpPr>
        <p:spPr>
          <a:xfrm>
            <a:off x="6720840" y="5422392"/>
            <a:ext cx="4846320" cy="274320"/>
          </a:xfrm>
          <a:prstGeom prst="rect">
            <a:avLst/>
          </a:prstGeom>
          <a:noFill/>
          <a:ln/>
        </p:spPr>
        <p:txBody>
          <a:bodyPr wrap="square" lIns="0" tIns="0" rIns="0" bIns="0" rtlCol="0" anchor="ctr"/>
          <a:lstStyle/>
          <a:p>
            <a:pPr marL="0" indent="0">
              <a:buNone/>
            </a:pPr>
            <a:r>
              <a:rPr lang="en-US" sz="1500" b="1" dirty="0">
                <a:solidFill>
                  <a:srgbClr val="102A43"/>
                </a:solidFill>
                <a:latin typeface="Cambria" pitchFamily="34" charset="0"/>
                <a:ea typeface="Cambria" pitchFamily="34" charset="-122"/>
                <a:cs typeface="Cambria" pitchFamily="34" charset="-120"/>
              </a:rPr>
              <a:t>Nothing to install</a:t>
            </a:r>
            <a:endParaRPr lang="en-US" sz="1500" dirty="0"/>
          </a:p>
        </p:txBody>
      </p:sp>
      <p:sp>
        <p:nvSpPr>
          <p:cNvPr id="34" name="Text 31"/>
          <p:cNvSpPr/>
          <p:nvPr/>
        </p:nvSpPr>
        <p:spPr>
          <a:xfrm>
            <a:off x="6720840" y="5705856"/>
            <a:ext cx="4828032" cy="475488"/>
          </a:xfrm>
          <a:prstGeom prst="rect">
            <a:avLst/>
          </a:prstGeom>
          <a:noFill/>
          <a:ln/>
        </p:spPr>
        <p:txBody>
          <a:bodyPr wrap="square" lIns="0" tIns="0" rIns="0" bIns="0" rtlCol="0" anchor="ctr"/>
          <a:lstStyle/>
          <a:p>
            <a:pPr marL="0" indent="0">
              <a:lnSpc>
                <a:spcPct val="112000"/>
              </a:lnSpc>
              <a:buNone/>
            </a:pPr>
            <a:r>
              <a:rPr lang="en-US" sz="1200" dirty="0">
                <a:solidFill>
                  <a:srgbClr val="55606C"/>
                </a:solidFill>
                <a:latin typeface="Calibri" pitchFamily="34" charset="0"/>
                <a:ea typeface="Calibri" pitchFamily="34" charset="-122"/>
                <a:cs typeface="Calibri" pitchFamily="34" charset="-120"/>
              </a:rPr>
              <a:t>Accessible to any browser on the network that is given access. Desktop, laptop or phone, in the office. </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AF7EF"/>
        </a:solidFill>
        <a:effectLst/>
      </p:bgPr>
    </p:bg>
    <p:spTree>
      <p:nvGrpSpPr>
        <p:cNvPr id="1" name=""/>
        <p:cNvGrpSpPr/>
        <p:nvPr/>
      </p:nvGrpSpPr>
      <p:grpSpPr>
        <a:xfrm>
          <a:off x="0" y="0"/>
          <a:ext cx="0" cy="0"/>
          <a:chOff x="0" y="0"/>
          <a:chExt cx="0" cy="0"/>
        </a:xfrm>
      </p:grpSpPr>
      <p:pic>
        <p:nvPicPr>
          <p:cNvPr id="2" name="Image 0" descr="logo_ink.png"/>
          <p:cNvPicPr>
            <a:picLocks noChangeAspect="1"/>
          </p:cNvPicPr>
          <p:nvPr/>
        </p:nvPicPr>
        <p:blipFill>
          <a:blip r:embed="rId3"/>
          <a:stretch>
            <a:fillRect/>
          </a:stretch>
        </p:blipFill>
        <p:spPr>
          <a:xfrm>
            <a:off x="10893000" y="438912"/>
            <a:ext cx="525359" cy="420624"/>
          </a:xfrm>
          <a:prstGeom prst="rect">
            <a:avLst/>
          </a:prstGeom>
        </p:spPr>
      </p:pic>
      <p:sp>
        <p:nvSpPr>
          <p:cNvPr id="3" name="Text 0"/>
          <p:cNvSpPr/>
          <p:nvPr/>
        </p:nvSpPr>
        <p:spPr>
          <a:xfrm>
            <a:off x="640080" y="566928"/>
            <a:ext cx="10908792" cy="256032"/>
          </a:xfrm>
          <a:prstGeom prst="rect">
            <a:avLst/>
          </a:prstGeom>
          <a:noFill/>
          <a:ln/>
        </p:spPr>
        <p:txBody>
          <a:bodyPr wrap="square" lIns="0" tIns="0" rIns="0" bIns="0" rtlCol="0" anchor="ctr"/>
          <a:lstStyle/>
          <a:p>
            <a:pPr marL="0" indent="0">
              <a:buNone/>
            </a:pPr>
            <a:r>
              <a:rPr lang="en-US" sz="1100" b="1" kern="0" spc="300" dirty="0">
                <a:solidFill>
                  <a:srgbClr val="2F5F87"/>
                </a:solidFill>
                <a:latin typeface="Calibri" pitchFamily="34" charset="0"/>
                <a:ea typeface="Calibri" pitchFamily="34" charset="-122"/>
                <a:cs typeface="Calibri" pitchFamily="34" charset="-120"/>
              </a:rPr>
              <a:t>THE PART THAT MATTERS</a:t>
            </a:r>
            <a:endParaRPr lang="en-US" sz="1100" dirty="0"/>
          </a:p>
        </p:txBody>
      </p:sp>
      <p:sp>
        <p:nvSpPr>
          <p:cNvPr id="4" name="Text 1"/>
          <p:cNvSpPr/>
          <p:nvPr/>
        </p:nvSpPr>
        <p:spPr>
          <a:xfrm>
            <a:off x="640080" y="960120"/>
            <a:ext cx="10908792" cy="731520"/>
          </a:xfrm>
          <a:prstGeom prst="rect">
            <a:avLst/>
          </a:prstGeom>
          <a:noFill/>
          <a:ln/>
        </p:spPr>
        <p:txBody>
          <a:bodyPr wrap="square" lIns="0" tIns="0" rIns="0" bIns="0" rtlCol="0" anchor="t"/>
          <a:lstStyle/>
          <a:p>
            <a:pPr marL="0" indent="0">
              <a:lnSpc>
                <a:spcPct val="102000"/>
              </a:lnSpc>
              <a:buNone/>
            </a:pPr>
            <a:r>
              <a:rPr lang="en-US" sz="3400" b="1" dirty="0">
                <a:solidFill>
                  <a:srgbClr val="102A43"/>
                </a:solidFill>
                <a:latin typeface="Cambria" pitchFamily="34" charset="0"/>
                <a:ea typeface="Cambria" pitchFamily="34" charset="-122"/>
                <a:cs typeface="Cambria" pitchFamily="34" charset="-120"/>
              </a:rPr>
              <a:t>Configured around how your firm actually works</a:t>
            </a:r>
            <a:endParaRPr lang="en-US" sz="3400" dirty="0"/>
          </a:p>
        </p:txBody>
      </p:sp>
      <p:sp>
        <p:nvSpPr>
          <p:cNvPr id="5" name="Text 2"/>
          <p:cNvSpPr/>
          <p:nvPr/>
        </p:nvSpPr>
        <p:spPr>
          <a:xfrm>
            <a:off x="640080" y="1783080"/>
            <a:ext cx="9692640" cy="365760"/>
          </a:xfrm>
          <a:prstGeom prst="rect">
            <a:avLst/>
          </a:prstGeom>
          <a:noFill/>
          <a:ln/>
        </p:spPr>
        <p:txBody>
          <a:bodyPr wrap="square" lIns="0" tIns="0" rIns="0" bIns="0" rtlCol="0" anchor="ctr"/>
          <a:lstStyle/>
          <a:p>
            <a:pPr marL="0" indent="0" algn="ctr">
              <a:lnSpc>
                <a:spcPct val="115000"/>
              </a:lnSpc>
              <a:buNone/>
            </a:pPr>
            <a:r>
              <a:rPr lang="en-US" sz="1500" dirty="0">
                <a:solidFill>
                  <a:srgbClr val="55606C"/>
                </a:solidFill>
                <a:latin typeface="Calibri" pitchFamily="34" charset="0"/>
                <a:ea typeface="Calibri" pitchFamily="34" charset="-122"/>
                <a:cs typeface="Calibri" pitchFamily="34" charset="-120"/>
              </a:rPr>
              <a:t>The value is in the setup — and this is the work we do with you on site.</a:t>
            </a:r>
            <a:endParaRPr lang="en-US" sz="1500" dirty="0"/>
          </a:p>
        </p:txBody>
      </p:sp>
      <p:sp>
        <p:nvSpPr>
          <p:cNvPr id="6" name="Shape 3"/>
          <p:cNvSpPr/>
          <p:nvPr/>
        </p:nvSpPr>
        <p:spPr>
          <a:xfrm>
            <a:off x="2331720" y="2363724"/>
            <a:ext cx="3383280" cy="1719072"/>
          </a:xfrm>
          <a:prstGeom prst="roundRect">
            <a:avLst>
              <a:gd name="adj" fmla="val 4255"/>
            </a:avLst>
          </a:prstGeom>
          <a:solidFill>
            <a:srgbClr val="FFFFFF"/>
          </a:solidFill>
          <a:ln w="9525">
            <a:solidFill>
              <a:srgbClr val="DDD8CB"/>
            </a:solidFill>
            <a:prstDash val="solid"/>
          </a:ln>
          <a:effectLst>
            <a:outerShdw blurRad="127000" dist="25400" dir="5400000" algn="bl" rotWithShape="0">
              <a:srgbClr val="000000">
                <a:alpha val="9000"/>
              </a:srgbClr>
            </a:outerShdw>
          </a:effectLst>
        </p:spPr>
      </p:sp>
      <p:pic>
        <p:nvPicPr>
          <p:cNvPr id="7" name="Image 1" descr="icons/userscog.png"/>
          <p:cNvPicPr>
            <a:picLocks noChangeAspect="1"/>
          </p:cNvPicPr>
          <p:nvPr/>
        </p:nvPicPr>
        <p:blipFill>
          <a:blip r:embed="rId4"/>
          <a:stretch>
            <a:fillRect/>
          </a:stretch>
        </p:blipFill>
        <p:spPr>
          <a:xfrm>
            <a:off x="2606040" y="2619756"/>
            <a:ext cx="292608" cy="292608"/>
          </a:xfrm>
          <a:prstGeom prst="rect">
            <a:avLst/>
          </a:prstGeom>
        </p:spPr>
      </p:pic>
      <p:sp>
        <p:nvSpPr>
          <p:cNvPr id="8" name="Text 4"/>
          <p:cNvSpPr/>
          <p:nvPr/>
        </p:nvSpPr>
        <p:spPr>
          <a:xfrm>
            <a:off x="2606040" y="2985516"/>
            <a:ext cx="2834640" cy="320040"/>
          </a:xfrm>
          <a:prstGeom prst="rect">
            <a:avLst/>
          </a:prstGeom>
          <a:noFill/>
          <a:ln/>
        </p:spPr>
        <p:txBody>
          <a:bodyPr wrap="square" lIns="0" tIns="0" rIns="0" bIns="0" rtlCol="0" anchor="ctr"/>
          <a:lstStyle/>
          <a:p>
            <a:pPr marL="0" indent="0">
              <a:buNone/>
            </a:pPr>
            <a:r>
              <a:rPr lang="en-US" sz="1500" b="1" dirty="0">
                <a:solidFill>
                  <a:srgbClr val="102A43"/>
                </a:solidFill>
                <a:latin typeface="Cambria" pitchFamily="34" charset="0"/>
                <a:ea typeface="Cambria" pitchFamily="34" charset="-122"/>
                <a:cs typeface="Cambria" pitchFamily="34" charset="-120"/>
              </a:rPr>
              <a:t>Groups and permissions</a:t>
            </a:r>
            <a:endParaRPr lang="en-US" sz="1500" dirty="0"/>
          </a:p>
        </p:txBody>
      </p:sp>
      <p:sp>
        <p:nvSpPr>
          <p:cNvPr id="9" name="Text 5"/>
          <p:cNvSpPr/>
          <p:nvPr/>
        </p:nvSpPr>
        <p:spPr>
          <a:xfrm>
            <a:off x="2606040" y="3323844"/>
            <a:ext cx="2880360" cy="731520"/>
          </a:xfrm>
          <a:prstGeom prst="rect">
            <a:avLst/>
          </a:prstGeom>
          <a:noFill/>
          <a:ln/>
        </p:spPr>
        <p:txBody>
          <a:bodyPr wrap="square" lIns="0" tIns="0" rIns="0" bIns="0" rtlCol="0" anchor="ctr"/>
          <a:lstStyle/>
          <a:p>
            <a:pPr marL="0" indent="0">
              <a:lnSpc>
                <a:spcPct val="112000"/>
              </a:lnSpc>
              <a:buNone/>
            </a:pPr>
            <a:r>
              <a:rPr lang="en-US" sz="1150" dirty="0">
                <a:solidFill>
                  <a:srgbClr val="55606C"/>
                </a:solidFill>
                <a:latin typeface="Calibri" pitchFamily="34" charset="0"/>
                <a:ea typeface="Calibri" pitchFamily="34" charset="-122"/>
                <a:cs typeface="Calibri" pitchFamily="34" charset="-120"/>
              </a:rPr>
              <a:t>Partners, associates, paralegals, employees — each group sees only the models and collections it should.</a:t>
            </a:r>
            <a:endParaRPr lang="en-US" sz="1150" dirty="0"/>
          </a:p>
        </p:txBody>
      </p:sp>
      <p:sp>
        <p:nvSpPr>
          <p:cNvPr id="18" name="Shape 12"/>
          <p:cNvSpPr/>
          <p:nvPr/>
        </p:nvSpPr>
        <p:spPr>
          <a:xfrm>
            <a:off x="2331720" y="4238244"/>
            <a:ext cx="3383280" cy="1719072"/>
          </a:xfrm>
          <a:prstGeom prst="roundRect">
            <a:avLst>
              <a:gd name="adj" fmla="val 4255"/>
            </a:avLst>
          </a:prstGeom>
          <a:solidFill>
            <a:srgbClr val="FFFFFF"/>
          </a:solidFill>
          <a:ln w="9525">
            <a:solidFill>
              <a:srgbClr val="DDD8CB"/>
            </a:solidFill>
            <a:prstDash val="solid"/>
          </a:ln>
          <a:effectLst>
            <a:outerShdw blurRad="127000" dist="25400" dir="5400000" algn="bl" rotWithShape="0">
              <a:srgbClr val="000000">
                <a:alpha val="9000"/>
              </a:srgbClr>
            </a:outerShdw>
          </a:effectLst>
        </p:spPr>
      </p:sp>
      <p:pic>
        <p:nvPicPr>
          <p:cNvPr id="19" name="Image 4" descr="icons/checkdouble.png"/>
          <p:cNvPicPr>
            <a:picLocks noChangeAspect="1"/>
          </p:cNvPicPr>
          <p:nvPr/>
        </p:nvPicPr>
        <p:blipFill>
          <a:blip r:embed="rId5"/>
          <a:stretch>
            <a:fillRect/>
          </a:stretch>
        </p:blipFill>
        <p:spPr>
          <a:xfrm>
            <a:off x="2606040" y="4494276"/>
            <a:ext cx="292608" cy="292608"/>
          </a:xfrm>
          <a:prstGeom prst="rect">
            <a:avLst/>
          </a:prstGeom>
        </p:spPr>
      </p:pic>
      <p:sp>
        <p:nvSpPr>
          <p:cNvPr id="20" name="Text 13"/>
          <p:cNvSpPr/>
          <p:nvPr/>
        </p:nvSpPr>
        <p:spPr>
          <a:xfrm>
            <a:off x="2606040" y="4860036"/>
            <a:ext cx="2834640" cy="320040"/>
          </a:xfrm>
          <a:prstGeom prst="rect">
            <a:avLst/>
          </a:prstGeom>
          <a:noFill/>
          <a:ln/>
        </p:spPr>
        <p:txBody>
          <a:bodyPr wrap="square" lIns="0" tIns="0" rIns="0" bIns="0" rtlCol="0" anchor="ctr"/>
          <a:lstStyle/>
          <a:p>
            <a:pPr marL="0" indent="0">
              <a:buNone/>
            </a:pPr>
            <a:r>
              <a:rPr lang="en-US" sz="1500" b="1" dirty="0">
                <a:solidFill>
                  <a:srgbClr val="102A43"/>
                </a:solidFill>
                <a:latin typeface="Cambria" pitchFamily="34" charset="0"/>
                <a:ea typeface="Cambria" pitchFamily="34" charset="-122"/>
                <a:cs typeface="Cambria" pitchFamily="34" charset="-120"/>
              </a:rPr>
              <a:t>Approved models only</a:t>
            </a:r>
            <a:endParaRPr lang="en-US" sz="1500" dirty="0"/>
          </a:p>
        </p:txBody>
      </p:sp>
      <p:sp>
        <p:nvSpPr>
          <p:cNvPr id="21" name="Text 14"/>
          <p:cNvSpPr/>
          <p:nvPr/>
        </p:nvSpPr>
        <p:spPr>
          <a:xfrm>
            <a:off x="2606040" y="5198364"/>
            <a:ext cx="2880360" cy="731520"/>
          </a:xfrm>
          <a:prstGeom prst="rect">
            <a:avLst/>
          </a:prstGeom>
          <a:noFill/>
          <a:ln/>
        </p:spPr>
        <p:txBody>
          <a:bodyPr wrap="square" lIns="0" tIns="0" rIns="0" bIns="0" rtlCol="0" anchor="ctr"/>
          <a:lstStyle/>
          <a:p>
            <a:pPr marL="0" indent="0">
              <a:lnSpc>
                <a:spcPct val="112000"/>
              </a:lnSpc>
              <a:buNone/>
            </a:pPr>
            <a:r>
              <a:rPr lang="en-US" sz="1150" dirty="0">
                <a:solidFill>
                  <a:srgbClr val="55606C"/>
                </a:solidFill>
                <a:latin typeface="Calibri" pitchFamily="34" charset="0"/>
                <a:ea typeface="Calibri" pitchFamily="34" charset="-122"/>
                <a:cs typeface="Calibri" pitchFamily="34" charset="-120"/>
              </a:rPr>
              <a:t>Only the models you have vetted appear in the menu. No silent switch to something new.</a:t>
            </a:r>
            <a:endParaRPr lang="en-US" sz="1150" dirty="0"/>
          </a:p>
        </p:txBody>
      </p:sp>
      <p:sp>
        <p:nvSpPr>
          <p:cNvPr id="22" name="Shape 15"/>
          <p:cNvSpPr/>
          <p:nvPr/>
        </p:nvSpPr>
        <p:spPr>
          <a:xfrm>
            <a:off x="6099048" y="4238244"/>
            <a:ext cx="3383280" cy="1719072"/>
          </a:xfrm>
          <a:prstGeom prst="roundRect">
            <a:avLst>
              <a:gd name="adj" fmla="val 4255"/>
            </a:avLst>
          </a:prstGeom>
          <a:solidFill>
            <a:srgbClr val="FFFFFF"/>
          </a:solidFill>
          <a:ln w="9525">
            <a:solidFill>
              <a:srgbClr val="DDD8CB"/>
            </a:solidFill>
            <a:prstDash val="solid"/>
          </a:ln>
          <a:effectLst>
            <a:outerShdw blurRad="127000" dist="25400" dir="5400000" algn="bl" rotWithShape="0">
              <a:srgbClr val="000000">
                <a:alpha val="9000"/>
              </a:srgbClr>
            </a:outerShdw>
          </a:effectLst>
        </p:spPr>
      </p:sp>
      <p:pic>
        <p:nvPicPr>
          <p:cNvPr id="23" name="Image 5" descr="icons/clipboard.png"/>
          <p:cNvPicPr>
            <a:picLocks noChangeAspect="1"/>
          </p:cNvPicPr>
          <p:nvPr/>
        </p:nvPicPr>
        <p:blipFill>
          <a:blip r:embed="rId6"/>
          <a:stretch>
            <a:fillRect/>
          </a:stretch>
        </p:blipFill>
        <p:spPr>
          <a:xfrm>
            <a:off x="6373368" y="4494276"/>
            <a:ext cx="292608" cy="292608"/>
          </a:xfrm>
          <a:prstGeom prst="rect">
            <a:avLst/>
          </a:prstGeom>
        </p:spPr>
      </p:pic>
      <p:sp>
        <p:nvSpPr>
          <p:cNvPr id="24" name="Text 16"/>
          <p:cNvSpPr/>
          <p:nvPr/>
        </p:nvSpPr>
        <p:spPr>
          <a:xfrm>
            <a:off x="6373368" y="4860036"/>
            <a:ext cx="2834640" cy="320040"/>
          </a:xfrm>
          <a:prstGeom prst="rect">
            <a:avLst/>
          </a:prstGeom>
          <a:noFill/>
          <a:ln/>
        </p:spPr>
        <p:txBody>
          <a:bodyPr wrap="square" lIns="0" tIns="0" rIns="0" bIns="0" rtlCol="0" anchor="ctr"/>
          <a:lstStyle/>
          <a:p>
            <a:pPr marL="0" indent="0">
              <a:buNone/>
            </a:pPr>
            <a:r>
              <a:rPr lang="en-US" sz="1500" b="1" dirty="0">
                <a:solidFill>
                  <a:srgbClr val="102A43"/>
                </a:solidFill>
                <a:latin typeface="Cambria" pitchFamily="34" charset="0"/>
                <a:ea typeface="Cambria" pitchFamily="34" charset="-122"/>
                <a:cs typeface="Cambria" pitchFamily="34" charset="-120"/>
              </a:rPr>
              <a:t>Retention and records</a:t>
            </a:r>
            <a:endParaRPr lang="en-US" sz="1500" dirty="0"/>
          </a:p>
        </p:txBody>
      </p:sp>
      <p:sp>
        <p:nvSpPr>
          <p:cNvPr id="25" name="Text 17"/>
          <p:cNvSpPr/>
          <p:nvPr/>
        </p:nvSpPr>
        <p:spPr>
          <a:xfrm>
            <a:off x="6373368" y="5198364"/>
            <a:ext cx="2880360" cy="731520"/>
          </a:xfrm>
          <a:prstGeom prst="rect">
            <a:avLst/>
          </a:prstGeom>
          <a:noFill/>
          <a:ln/>
        </p:spPr>
        <p:txBody>
          <a:bodyPr wrap="square" lIns="0" tIns="0" rIns="0" bIns="0" rtlCol="0" anchor="ctr"/>
          <a:lstStyle/>
          <a:p>
            <a:pPr marL="0" indent="0">
              <a:lnSpc>
                <a:spcPct val="112000"/>
              </a:lnSpc>
              <a:buNone/>
            </a:pPr>
            <a:r>
              <a:rPr lang="en-US" sz="1150" dirty="0">
                <a:solidFill>
                  <a:srgbClr val="55606C"/>
                </a:solidFill>
                <a:latin typeface="Calibri" pitchFamily="34" charset="0"/>
                <a:ea typeface="Calibri" pitchFamily="34" charset="-122"/>
                <a:cs typeface="Calibri" pitchFamily="34" charset="-120"/>
              </a:rPr>
              <a:t>Chat retention set to your policy, deletion locked where you need a record. Compete admin visibility. </a:t>
            </a:r>
            <a:endParaRPr lang="en-US" sz="1150" dirty="0"/>
          </a:p>
        </p:txBody>
      </p:sp>
      <p:sp>
        <p:nvSpPr>
          <p:cNvPr id="26" name="Shape 18"/>
          <p:cNvSpPr/>
          <p:nvPr/>
        </p:nvSpPr>
        <p:spPr>
          <a:xfrm>
            <a:off x="6099048" y="2363724"/>
            <a:ext cx="3383280" cy="1719072"/>
          </a:xfrm>
          <a:prstGeom prst="roundRect">
            <a:avLst>
              <a:gd name="adj" fmla="val 4255"/>
            </a:avLst>
          </a:prstGeom>
          <a:solidFill>
            <a:srgbClr val="FFFFFF"/>
          </a:solidFill>
          <a:ln w="9525">
            <a:solidFill>
              <a:srgbClr val="DDD8CB"/>
            </a:solidFill>
            <a:prstDash val="solid"/>
          </a:ln>
          <a:effectLst>
            <a:outerShdw blurRad="127000" dist="25400" dir="5400000" algn="bl" rotWithShape="0">
              <a:srgbClr val="000000">
                <a:alpha val="9000"/>
              </a:srgbClr>
            </a:outerShdw>
          </a:effectLst>
        </p:spPr>
      </p:sp>
      <p:pic>
        <p:nvPicPr>
          <p:cNvPr id="27" name="Image 6" descr="icons/key.png"/>
          <p:cNvPicPr>
            <a:picLocks noChangeAspect="1"/>
          </p:cNvPicPr>
          <p:nvPr/>
        </p:nvPicPr>
        <p:blipFill>
          <a:blip r:embed="rId7"/>
          <a:stretch>
            <a:fillRect/>
          </a:stretch>
        </p:blipFill>
        <p:spPr>
          <a:xfrm>
            <a:off x="6373368" y="2619756"/>
            <a:ext cx="292608" cy="292608"/>
          </a:xfrm>
          <a:prstGeom prst="rect">
            <a:avLst/>
          </a:prstGeom>
        </p:spPr>
      </p:pic>
      <p:sp>
        <p:nvSpPr>
          <p:cNvPr id="28" name="Text 19"/>
          <p:cNvSpPr/>
          <p:nvPr/>
        </p:nvSpPr>
        <p:spPr>
          <a:xfrm>
            <a:off x="6373368" y="2985516"/>
            <a:ext cx="2834640" cy="320040"/>
          </a:xfrm>
          <a:prstGeom prst="rect">
            <a:avLst/>
          </a:prstGeom>
          <a:noFill/>
          <a:ln/>
        </p:spPr>
        <p:txBody>
          <a:bodyPr wrap="square" lIns="0" tIns="0" rIns="0" bIns="0" rtlCol="0" anchor="ctr"/>
          <a:lstStyle/>
          <a:p>
            <a:pPr marL="0" indent="0">
              <a:buNone/>
            </a:pPr>
            <a:r>
              <a:rPr lang="en-US" sz="1500" b="1" dirty="0">
                <a:solidFill>
                  <a:srgbClr val="102A43"/>
                </a:solidFill>
                <a:latin typeface="Cambria" pitchFamily="34" charset="0"/>
                <a:ea typeface="Cambria" pitchFamily="34" charset="-122"/>
                <a:cs typeface="Cambria" pitchFamily="34" charset="-120"/>
              </a:rPr>
              <a:t>Sign-on and offboarding</a:t>
            </a:r>
            <a:endParaRPr lang="en-US" sz="1500" dirty="0"/>
          </a:p>
        </p:txBody>
      </p:sp>
      <p:sp>
        <p:nvSpPr>
          <p:cNvPr id="29" name="Text 20"/>
          <p:cNvSpPr/>
          <p:nvPr/>
        </p:nvSpPr>
        <p:spPr>
          <a:xfrm>
            <a:off x="6373368" y="3323844"/>
            <a:ext cx="2880360" cy="731520"/>
          </a:xfrm>
          <a:prstGeom prst="rect">
            <a:avLst/>
          </a:prstGeom>
          <a:noFill/>
          <a:ln/>
        </p:spPr>
        <p:txBody>
          <a:bodyPr wrap="square" lIns="0" tIns="0" rIns="0" bIns="0" rtlCol="0" anchor="ctr"/>
          <a:lstStyle/>
          <a:p>
            <a:pPr marL="0" indent="0">
              <a:lnSpc>
                <a:spcPct val="112000"/>
              </a:lnSpc>
              <a:buNone/>
            </a:pPr>
            <a:r>
              <a:rPr lang="en-US" sz="1150" dirty="0">
                <a:solidFill>
                  <a:srgbClr val="55606C"/>
                </a:solidFill>
                <a:latin typeface="Calibri" pitchFamily="34" charset="0"/>
                <a:cs typeface="Calibri" pitchFamily="34" charset="-120"/>
              </a:rPr>
              <a:t>Enable user registration when hiring new associates. Delete account access when an associate departs from the company. </a:t>
            </a:r>
            <a:endParaRPr lang="en-US" sz="1150" dirty="0"/>
          </a:p>
        </p:txBody>
      </p:sp>
      <p:sp>
        <p:nvSpPr>
          <p:cNvPr id="30" name="Text 21"/>
          <p:cNvSpPr/>
          <p:nvPr/>
        </p:nvSpPr>
        <p:spPr>
          <a:xfrm>
            <a:off x="640080" y="6172200"/>
            <a:ext cx="10515600" cy="274320"/>
          </a:xfrm>
          <a:prstGeom prst="rect">
            <a:avLst/>
          </a:prstGeom>
          <a:noFill/>
          <a:ln/>
        </p:spPr>
        <p:txBody>
          <a:bodyPr wrap="square" lIns="0" tIns="0" rIns="0" bIns="0" rtlCol="0" anchor="ctr"/>
          <a:lstStyle/>
          <a:p>
            <a:pPr marL="0" indent="0">
              <a:buNone/>
            </a:pPr>
            <a:r>
              <a:rPr lang="en-US" sz="1200" b="1" dirty="0">
                <a:solidFill>
                  <a:srgbClr val="2F5F87"/>
                </a:solidFill>
                <a:latin typeface="Calibri" pitchFamily="34" charset="0"/>
                <a:ea typeface="Calibri" pitchFamily="34" charset="-122"/>
                <a:cs typeface="Calibri" pitchFamily="34" charset="-120"/>
              </a:rPr>
              <a:t>You get a written record of every setting we apply, just in case you want to change it later. </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3">
    <p:bg>
      <p:bgPr>
        <a:solidFill>
          <a:srgbClr val="FAF7EF"/>
        </a:solidFill>
        <a:effectLst/>
      </p:bgPr>
    </p:bg>
    <p:spTree>
      <p:nvGrpSpPr>
        <p:cNvPr id="1" name=""/>
        <p:cNvGrpSpPr/>
        <p:nvPr/>
      </p:nvGrpSpPr>
      <p:grpSpPr>
        <a:xfrm>
          <a:off x="0" y="0"/>
          <a:ext cx="0" cy="0"/>
          <a:chOff x="0" y="0"/>
          <a:chExt cx="0" cy="0"/>
        </a:xfrm>
      </p:grpSpPr>
      <p:pic>
        <p:nvPicPr>
          <p:cNvPr id="2" name="Image 0" descr="logo_ink.png"/>
          <p:cNvPicPr>
            <a:picLocks noChangeAspect="1"/>
          </p:cNvPicPr>
          <p:nvPr/>
        </p:nvPicPr>
        <p:blipFill>
          <a:blip r:embed="rId3"/>
          <a:stretch>
            <a:fillRect/>
          </a:stretch>
        </p:blipFill>
        <p:spPr>
          <a:xfrm>
            <a:off x="10893000" y="438912"/>
            <a:ext cx="525359" cy="420624"/>
          </a:xfrm>
          <a:prstGeom prst="rect">
            <a:avLst/>
          </a:prstGeom>
        </p:spPr>
      </p:pic>
      <p:sp>
        <p:nvSpPr>
          <p:cNvPr id="3" name="Text 0"/>
          <p:cNvSpPr/>
          <p:nvPr/>
        </p:nvSpPr>
        <p:spPr>
          <a:xfrm>
            <a:off x="640080" y="566928"/>
            <a:ext cx="10908792" cy="256032"/>
          </a:xfrm>
          <a:prstGeom prst="rect">
            <a:avLst/>
          </a:prstGeom>
          <a:noFill/>
          <a:ln/>
        </p:spPr>
        <p:txBody>
          <a:bodyPr wrap="square" lIns="0" tIns="0" rIns="0" bIns="0" rtlCol="0" anchor="ctr"/>
          <a:lstStyle/>
          <a:p>
            <a:pPr marL="0" indent="0">
              <a:buNone/>
            </a:pPr>
            <a:r>
              <a:rPr lang="en-US" sz="1100" b="1" kern="0" spc="300" dirty="0">
                <a:solidFill>
                  <a:srgbClr val="2F5F87"/>
                </a:solidFill>
                <a:latin typeface="Calibri" pitchFamily="34" charset="0"/>
                <a:ea typeface="Calibri" pitchFamily="34" charset="-122"/>
                <a:cs typeface="Calibri" pitchFamily="34" charset="-120"/>
              </a:rPr>
              <a:t>STRAIGHT ANSWERS</a:t>
            </a:r>
            <a:endParaRPr lang="en-US" sz="1100" dirty="0"/>
          </a:p>
        </p:txBody>
      </p:sp>
      <p:sp>
        <p:nvSpPr>
          <p:cNvPr id="4" name="Text 1"/>
          <p:cNvSpPr/>
          <p:nvPr/>
        </p:nvSpPr>
        <p:spPr>
          <a:xfrm>
            <a:off x="640080" y="960120"/>
            <a:ext cx="10908792" cy="731520"/>
          </a:xfrm>
          <a:prstGeom prst="rect">
            <a:avLst/>
          </a:prstGeom>
          <a:noFill/>
          <a:ln/>
        </p:spPr>
        <p:txBody>
          <a:bodyPr wrap="square" lIns="0" tIns="0" rIns="0" bIns="0" rtlCol="0" anchor="t"/>
          <a:lstStyle/>
          <a:p>
            <a:pPr marL="0" indent="0">
              <a:lnSpc>
                <a:spcPct val="102000"/>
              </a:lnSpc>
              <a:buNone/>
            </a:pPr>
            <a:r>
              <a:rPr lang="en-US" sz="3400" b="1" dirty="0">
                <a:solidFill>
                  <a:srgbClr val="102A43"/>
                </a:solidFill>
                <a:latin typeface="Cambria" pitchFamily="34" charset="0"/>
                <a:ea typeface="Cambria" pitchFamily="34" charset="-122"/>
                <a:cs typeface="Cambria" pitchFamily="34" charset="-120"/>
              </a:rPr>
              <a:t>The four questions we always get</a:t>
            </a:r>
            <a:endParaRPr lang="en-US" sz="3400" dirty="0"/>
          </a:p>
        </p:txBody>
      </p:sp>
      <p:sp>
        <p:nvSpPr>
          <p:cNvPr id="5" name="Shape 2"/>
          <p:cNvSpPr/>
          <p:nvPr/>
        </p:nvSpPr>
        <p:spPr>
          <a:xfrm>
            <a:off x="640080" y="2103120"/>
            <a:ext cx="5257800" cy="2011680"/>
          </a:xfrm>
          <a:prstGeom prst="roundRect">
            <a:avLst>
              <a:gd name="adj" fmla="val 3636"/>
            </a:avLst>
          </a:prstGeom>
          <a:solidFill>
            <a:srgbClr val="FFFFFF"/>
          </a:solidFill>
          <a:ln w="9525">
            <a:solidFill>
              <a:srgbClr val="DDD8CB"/>
            </a:solidFill>
            <a:prstDash val="solid"/>
          </a:ln>
          <a:effectLst>
            <a:outerShdw blurRad="127000" dist="25400" dir="5400000" algn="bl" rotWithShape="0">
              <a:srgbClr val="000000">
                <a:alpha val="9000"/>
              </a:srgbClr>
            </a:outerShdw>
          </a:effectLst>
        </p:spPr>
      </p:sp>
      <p:sp>
        <p:nvSpPr>
          <p:cNvPr id="6" name="Text 3"/>
          <p:cNvSpPr/>
          <p:nvPr/>
        </p:nvSpPr>
        <p:spPr>
          <a:xfrm>
            <a:off x="932688" y="2331720"/>
            <a:ext cx="4663440" cy="365760"/>
          </a:xfrm>
          <a:prstGeom prst="rect">
            <a:avLst/>
          </a:prstGeom>
          <a:noFill/>
          <a:ln/>
        </p:spPr>
        <p:txBody>
          <a:bodyPr wrap="square" lIns="0" tIns="0" rIns="0" bIns="0" rtlCol="0" anchor="ctr"/>
          <a:lstStyle/>
          <a:p>
            <a:pPr marL="0" indent="0">
              <a:buNone/>
            </a:pPr>
            <a:r>
              <a:rPr lang="en-US" sz="1600" b="1" dirty="0">
                <a:solidFill>
                  <a:srgbClr val="2F5F87"/>
                </a:solidFill>
                <a:latin typeface="Cambria" pitchFamily="34" charset="0"/>
                <a:ea typeface="Cambria" pitchFamily="34" charset="-122"/>
                <a:cs typeface="Cambria" pitchFamily="34" charset="-120"/>
              </a:rPr>
              <a:t>Will this server be as good as ChatGPT/Claude?</a:t>
            </a:r>
            <a:endParaRPr lang="en-US" sz="1600" dirty="0"/>
          </a:p>
        </p:txBody>
      </p:sp>
      <p:sp>
        <p:nvSpPr>
          <p:cNvPr id="7" name="Text 4"/>
          <p:cNvSpPr/>
          <p:nvPr/>
        </p:nvSpPr>
        <p:spPr>
          <a:xfrm>
            <a:off x="932688" y="2761488"/>
            <a:ext cx="4663440" cy="1234440"/>
          </a:xfrm>
          <a:prstGeom prst="rect">
            <a:avLst/>
          </a:prstGeom>
          <a:noFill/>
          <a:ln/>
        </p:spPr>
        <p:txBody>
          <a:bodyPr wrap="square" lIns="0" tIns="0" rIns="0" bIns="0" rtlCol="0" anchor="t"/>
          <a:lstStyle/>
          <a:p>
            <a:pPr marL="0" indent="0">
              <a:lnSpc>
                <a:spcPct val="114000"/>
              </a:lnSpc>
              <a:buNone/>
            </a:pPr>
            <a:r>
              <a:rPr lang="en-US" sz="1200" dirty="0">
                <a:solidFill>
                  <a:srgbClr val="102A43"/>
                </a:solidFill>
                <a:latin typeface="Calibri" pitchFamily="34" charset="0"/>
                <a:ea typeface="Calibri" pitchFamily="34" charset="-122"/>
                <a:cs typeface="Calibri" pitchFamily="34" charset="-120"/>
              </a:rPr>
              <a:t>For the work a firm does most — summarising, drafting and searching your own documents — it is close enough that most people cannot tell the difference. For the hardest cognitive reasoning, the frontier cloud models still have a slight edge. </a:t>
            </a:r>
            <a:endParaRPr lang="en-US" sz="1200" dirty="0"/>
          </a:p>
        </p:txBody>
      </p:sp>
      <p:sp>
        <p:nvSpPr>
          <p:cNvPr id="8" name="Shape 5"/>
          <p:cNvSpPr/>
          <p:nvPr/>
        </p:nvSpPr>
        <p:spPr>
          <a:xfrm>
            <a:off x="6291072" y="2103120"/>
            <a:ext cx="5257800" cy="2011680"/>
          </a:xfrm>
          <a:prstGeom prst="roundRect">
            <a:avLst>
              <a:gd name="adj" fmla="val 3636"/>
            </a:avLst>
          </a:prstGeom>
          <a:solidFill>
            <a:srgbClr val="FFFFFF"/>
          </a:solidFill>
          <a:ln w="9525">
            <a:solidFill>
              <a:srgbClr val="DDD8CB"/>
            </a:solidFill>
            <a:prstDash val="solid"/>
          </a:ln>
          <a:effectLst>
            <a:outerShdw blurRad="127000" dist="25400" dir="5400000" algn="bl" rotWithShape="0">
              <a:srgbClr val="000000">
                <a:alpha val="9000"/>
              </a:srgbClr>
            </a:outerShdw>
          </a:effectLst>
        </p:spPr>
      </p:sp>
      <p:sp>
        <p:nvSpPr>
          <p:cNvPr id="9" name="Text 6"/>
          <p:cNvSpPr/>
          <p:nvPr/>
        </p:nvSpPr>
        <p:spPr>
          <a:xfrm>
            <a:off x="6583680" y="2331720"/>
            <a:ext cx="4663440" cy="365760"/>
          </a:xfrm>
          <a:prstGeom prst="rect">
            <a:avLst/>
          </a:prstGeom>
          <a:noFill/>
          <a:ln/>
        </p:spPr>
        <p:txBody>
          <a:bodyPr wrap="square" lIns="0" tIns="0" rIns="0" bIns="0" rtlCol="0" anchor="ctr"/>
          <a:lstStyle/>
          <a:p>
            <a:pPr marL="0" indent="0">
              <a:buNone/>
            </a:pPr>
            <a:r>
              <a:rPr lang="en-US" sz="1600" b="1" dirty="0">
                <a:solidFill>
                  <a:srgbClr val="2F5F87"/>
                </a:solidFill>
                <a:latin typeface="Cambria" pitchFamily="34" charset="0"/>
                <a:ea typeface="Cambria" pitchFamily="34" charset="-122"/>
                <a:cs typeface="Cambria" pitchFamily="34" charset="-120"/>
              </a:rPr>
              <a:t>What happens if it breaks?</a:t>
            </a:r>
            <a:endParaRPr lang="en-US" sz="1600" dirty="0"/>
          </a:p>
        </p:txBody>
      </p:sp>
      <p:sp>
        <p:nvSpPr>
          <p:cNvPr id="10" name="Text 7"/>
          <p:cNvSpPr/>
          <p:nvPr/>
        </p:nvSpPr>
        <p:spPr>
          <a:xfrm>
            <a:off x="6583680" y="2761488"/>
            <a:ext cx="4663440" cy="1234440"/>
          </a:xfrm>
          <a:prstGeom prst="rect">
            <a:avLst/>
          </a:prstGeom>
          <a:noFill/>
          <a:ln/>
        </p:spPr>
        <p:txBody>
          <a:bodyPr wrap="square" lIns="0" tIns="0" rIns="0" bIns="0" rtlCol="0" anchor="t"/>
          <a:lstStyle/>
          <a:p>
            <a:pPr marL="0" indent="0">
              <a:lnSpc>
                <a:spcPct val="114000"/>
              </a:lnSpc>
              <a:buNone/>
            </a:pPr>
            <a:r>
              <a:rPr lang="en-US" sz="1200" dirty="0">
                <a:solidFill>
                  <a:srgbClr val="102A43"/>
                </a:solidFill>
                <a:latin typeface="Calibri" pitchFamily="34" charset="0"/>
                <a:cs typeface="Calibri" pitchFamily="34" charset="-120"/>
              </a:rPr>
              <a:t>The AI hardware we utilize comes with a 1-year warranty from the factory. We offer 1-Year of free tech support/repair if the issue stems from initial setup/deployment.  </a:t>
            </a:r>
            <a:endParaRPr lang="en-US" sz="1200" dirty="0"/>
          </a:p>
        </p:txBody>
      </p:sp>
      <p:sp>
        <p:nvSpPr>
          <p:cNvPr id="11" name="Shape 8"/>
          <p:cNvSpPr/>
          <p:nvPr/>
        </p:nvSpPr>
        <p:spPr>
          <a:xfrm>
            <a:off x="640080" y="4315968"/>
            <a:ext cx="5257800" cy="2011680"/>
          </a:xfrm>
          <a:prstGeom prst="roundRect">
            <a:avLst>
              <a:gd name="adj" fmla="val 3636"/>
            </a:avLst>
          </a:prstGeom>
          <a:solidFill>
            <a:srgbClr val="FFFFFF"/>
          </a:solidFill>
          <a:ln w="9525">
            <a:solidFill>
              <a:srgbClr val="DDD8CB"/>
            </a:solidFill>
            <a:prstDash val="solid"/>
          </a:ln>
          <a:effectLst>
            <a:outerShdw blurRad="127000" dist="25400" dir="5400000" algn="bl" rotWithShape="0">
              <a:srgbClr val="000000">
                <a:alpha val="9000"/>
              </a:srgbClr>
            </a:outerShdw>
          </a:effectLst>
        </p:spPr>
      </p:sp>
      <p:sp>
        <p:nvSpPr>
          <p:cNvPr id="12" name="Text 9"/>
          <p:cNvSpPr/>
          <p:nvPr/>
        </p:nvSpPr>
        <p:spPr>
          <a:xfrm>
            <a:off x="932688" y="4544568"/>
            <a:ext cx="4663440" cy="365760"/>
          </a:xfrm>
          <a:prstGeom prst="rect">
            <a:avLst/>
          </a:prstGeom>
          <a:noFill/>
          <a:ln/>
        </p:spPr>
        <p:txBody>
          <a:bodyPr wrap="square" lIns="0" tIns="0" rIns="0" bIns="0" rtlCol="0" anchor="ctr"/>
          <a:lstStyle/>
          <a:p>
            <a:pPr marL="0" indent="0">
              <a:buNone/>
            </a:pPr>
            <a:r>
              <a:rPr lang="en-US" sz="1600" b="1" dirty="0">
                <a:solidFill>
                  <a:srgbClr val="2F5F87"/>
                </a:solidFill>
                <a:latin typeface="Cambria" pitchFamily="34" charset="0"/>
                <a:ea typeface="Cambria" pitchFamily="34" charset="-122"/>
              </a:rPr>
              <a:t>What is the lead time?</a:t>
            </a:r>
            <a:endParaRPr lang="en-US" sz="1600" dirty="0"/>
          </a:p>
        </p:txBody>
      </p:sp>
      <p:sp>
        <p:nvSpPr>
          <p:cNvPr id="13" name="Text 10"/>
          <p:cNvSpPr/>
          <p:nvPr/>
        </p:nvSpPr>
        <p:spPr>
          <a:xfrm>
            <a:off x="932688" y="4974336"/>
            <a:ext cx="4663440" cy="1234440"/>
          </a:xfrm>
          <a:prstGeom prst="rect">
            <a:avLst/>
          </a:prstGeom>
          <a:noFill/>
          <a:ln/>
        </p:spPr>
        <p:txBody>
          <a:bodyPr wrap="square" lIns="0" tIns="0" rIns="0" bIns="0" rtlCol="0" anchor="t"/>
          <a:lstStyle/>
          <a:p>
            <a:pPr marL="0" indent="0">
              <a:lnSpc>
                <a:spcPct val="114000"/>
              </a:lnSpc>
              <a:buNone/>
            </a:pPr>
            <a:r>
              <a:rPr lang="en-US" sz="1200" dirty="0">
                <a:solidFill>
                  <a:srgbClr val="102A43"/>
                </a:solidFill>
                <a:latin typeface="Calibri" pitchFamily="34" charset="0"/>
                <a:cs typeface="Calibri" pitchFamily="34" charset="-120"/>
              </a:rPr>
              <a:t>From ordering the AI computers to a fully deployed server is about 3-4 weeks, mostly dependent on hardware availability. </a:t>
            </a:r>
            <a:endParaRPr lang="en-US" sz="1200" dirty="0"/>
          </a:p>
        </p:txBody>
      </p:sp>
      <p:sp>
        <p:nvSpPr>
          <p:cNvPr id="14" name="Shape 11"/>
          <p:cNvSpPr/>
          <p:nvPr/>
        </p:nvSpPr>
        <p:spPr>
          <a:xfrm>
            <a:off x="6291072" y="4315968"/>
            <a:ext cx="5257800" cy="2011680"/>
          </a:xfrm>
          <a:prstGeom prst="roundRect">
            <a:avLst>
              <a:gd name="adj" fmla="val 3636"/>
            </a:avLst>
          </a:prstGeom>
          <a:solidFill>
            <a:srgbClr val="FFFFFF"/>
          </a:solidFill>
          <a:ln w="9525">
            <a:solidFill>
              <a:srgbClr val="DDD8CB"/>
            </a:solidFill>
            <a:prstDash val="solid"/>
          </a:ln>
          <a:effectLst>
            <a:outerShdw blurRad="127000" dist="25400" dir="5400000" algn="bl" rotWithShape="0">
              <a:srgbClr val="000000">
                <a:alpha val="9000"/>
              </a:srgbClr>
            </a:outerShdw>
          </a:effectLst>
        </p:spPr>
        <p:txBody>
          <a:bodyPr/>
          <a:lstStyle/>
          <a:p>
            <a:endParaRPr lang="en-US" dirty="0"/>
          </a:p>
        </p:txBody>
      </p:sp>
      <p:sp>
        <p:nvSpPr>
          <p:cNvPr id="15" name="Text 12"/>
          <p:cNvSpPr/>
          <p:nvPr/>
        </p:nvSpPr>
        <p:spPr>
          <a:xfrm>
            <a:off x="6583680" y="4544568"/>
            <a:ext cx="4663440" cy="365760"/>
          </a:xfrm>
          <a:prstGeom prst="rect">
            <a:avLst/>
          </a:prstGeom>
          <a:noFill/>
          <a:ln/>
        </p:spPr>
        <p:txBody>
          <a:bodyPr wrap="square" lIns="0" tIns="0" rIns="0" bIns="0" rtlCol="0" anchor="ctr"/>
          <a:lstStyle/>
          <a:p>
            <a:pPr marL="0" indent="0">
              <a:buNone/>
            </a:pPr>
            <a:r>
              <a:rPr lang="en-US" sz="1600" b="1" dirty="0">
                <a:solidFill>
                  <a:srgbClr val="2F5F87"/>
                </a:solidFill>
                <a:latin typeface="Cambria" pitchFamily="34" charset="0"/>
                <a:ea typeface="Cambria" pitchFamily="34" charset="-122"/>
              </a:rPr>
              <a:t>Who has access to the server?</a:t>
            </a:r>
            <a:endParaRPr lang="en-US" sz="1600" dirty="0"/>
          </a:p>
        </p:txBody>
      </p:sp>
      <p:sp>
        <p:nvSpPr>
          <p:cNvPr id="16" name="Text 13"/>
          <p:cNvSpPr/>
          <p:nvPr/>
        </p:nvSpPr>
        <p:spPr>
          <a:xfrm>
            <a:off x="6583680" y="4974336"/>
            <a:ext cx="4663440" cy="1234440"/>
          </a:xfrm>
          <a:prstGeom prst="rect">
            <a:avLst/>
          </a:prstGeom>
          <a:noFill/>
          <a:ln/>
        </p:spPr>
        <p:txBody>
          <a:bodyPr wrap="square" lIns="0" tIns="0" rIns="0" bIns="0" rtlCol="0" anchor="t"/>
          <a:lstStyle/>
          <a:p>
            <a:pPr marL="0" indent="0">
              <a:lnSpc>
                <a:spcPct val="114000"/>
              </a:lnSpc>
              <a:buNone/>
            </a:pPr>
            <a:r>
              <a:rPr lang="en-US" sz="1200" dirty="0">
                <a:solidFill>
                  <a:srgbClr val="102A43"/>
                </a:solidFill>
                <a:latin typeface="Calibri" pitchFamily="34" charset="0"/>
                <a:ea typeface="Calibri" pitchFamily="34" charset="-122"/>
                <a:cs typeface="Calibri" pitchFamily="34" charset="-120"/>
              </a:rPr>
              <a:t>After the server is built, configured, and deployed the only people who have access to it are of your choosing. </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102A43"/>
        </a:solidFill>
        <a:effectLst/>
      </p:bgPr>
    </p:bg>
    <p:spTree>
      <p:nvGrpSpPr>
        <p:cNvPr id="1" name=""/>
        <p:cNvGrpSpPr/>
        <p:nvPr/>
      </p:nvGrpSpPr>
      <p:grpSpPr>
        <a:xfrm>
          <a:off x="0" y="0"/>
          <a:ext cx="0" cy="0"/>
          <a:chOff x="0" y="0"/>
          <a:chExt cx="0" cy="0"/>
        </a:xfrm>
      </p:grpSpPr>
      <p:sp>
        <p:nvSpPr>
          <p:cNvPr id="2" name="Shape 0"/>
          <p:cNvSpPr/>
          <p:nvPr/>
        </p:nvSpPr>
        <p:spPr>
          <a:xfrm>
            <a:off x="10762488" y="310896"/>
            <a:ext cx="786384" cy="676656"/>
          </a:xfrm>
          <a:prstGeom prst="roundRect">
            <a:avLst>
              <a:gd name="adj" fmla="val 9459"/>
            </a:avLst>
          </a:prstGeom>
          <a:solidFill>
            <a:srgbClr val="FAF7EF"/>
          </a:solidFill>
          <a:ln w="6350">
            <a:solidFill>
              <a:srgbClr val="FAF7EF"/>
            </a:solidFill>
            <a:prstDash val="solid"/>
          </a:ln>
        </p:spPr>
      </p:sp>
      <p:pic>
        <p:nvPicPr>
          <p:cNvPr id="3" name="Image 0" descr="logo_ink.png"/>
          <p:cNvPicPr>
            <a:picLocks noChangeAspect="1"/>
          </p:cNvPicPr>
          <p:nvPr/>
        </p:nvPicPr>
        <p:blipFill>
          <a:blip r:embed="rId3"/>
          <a:stretch>
            <a:fillRect/>
          </a:stretch>
        </p:blipFill>
        <p:spPr>
          <a:xfrm>
            <a:off x="10893000" y="438912"/>
            <a:ext cx="525359" cy="420624"/>
          </a:xfrm>
          <a:prstGeom prst="rect">
            <a:avLst/>
          </a:prstGeom>
        </p:spPr>
      </p:pic>
      <p:sp>
        <p:nvSpPr>
          <p:cNvPr id="4" name="Text 1"/>
          <p:cNvSpPr/>
          <p:nvPr/>
        </p:nvSpPr>
        <p:spPr>
          <a:xfrm>
            <a:off x="640080" y="566928"/>
            <a:ext cx="10908792" cy="256032"/>
          </a:xfrm>
          <a:prstGeom prst="rect">
            <a:avLst/>
          </a:prstGeom>
          <a:noFill/>
          <a:ln/>
        </p:spPr>
        <p:txBody>
          <a:bodyPr wrap="square" lIns="0" tIns="0" rIns="0" bIns="0" rtlCol="0" anchor="ctr"/>
          <a:lstStyle/>
          <a:p>
            <a:pPr marL="0" indent="0">
              <a:buNone/>
            </a:pPr>
            <a:r>
              <a:rPr lang="en-US" sz="1100" b="1" kern="0" spc="300" dirty="0">
                <a:solidFill>
                  <a:srgbClr val="8FB4D6"/>
                </a:solidFill>
                <a:latin typeface="Calibri" pitchFamily="34" charset="0"/>
                <a:ea typeface="Calibri" pitchFamily="34" charset="-122"/>
                <a:cs typeface="Calibri" pitchFamily="34" charset="-120"/>
              </a:rPr>
              <a:t>THE ENGAGEMENT</a:t>
            </a:r>
            <a:endParaRPr lang="en-US" sz="1100" dirty="0"/>
          </a:p>
        </p:txBody>
      </p:sp>
      <p:sp>
        <p:nvSpPr>
          <p:cNvPr id="5" name="Text 2"/>
          <p:cNvSpPr/>
          <p:nvPr/>
        </p:nvSpPr>
        <p:spPr>
          <a:xfrm>
            <a:off x="640080" y="960120"/>
            <a:ext cx="10908792" cy="777240"/>
          </a:xfrm>
          <a:prstGeom prst="rect">
            <a:avLst/>
          </a:prstGeom>
          <a:noFill/>
          <a:ln/>
        </p:spPr>
        <p:txBody>
          <a:bodyPr wrap="square" lIns="0" tIns="0" rIns="0" bIns="0" rtlCol="0" anchor="t"/>
          <a:lstStyle/>
          <a:p>
            <a:pPr marL="0" indent="0">
              <a:lnSpc>
                <a:spcPct val="102000"/>
              </a:lnSpc>
              <a:buNone/>
            </a:pPr>
            <a:r>
              <a:rPr lang="en-US" sz="3800" b="1" dirty="0">
                <a:solidFill>
                  <a:srgbClr val="FFFFFF"/>
                </a:solidFill>
                <a:latin typeface="Cambria" pitchFamily="34" charset="0"/>
                <a:ea typeface="Cambria" pitchFamily="34" charset="-122"/>
                <a:cs typeface="Cambria" pitchFamily="34" charset="-120"/>
              </a:rPr>
              <a:t>What we do, in order</a:t>
            </a:r>
            <a:endParaRPr lang="en-US" sz="3800" dirty="0"/>
          </a:p>
        </p:txBody>
      </p:sp>
      <p:sp>
        <p:nvSpPr>
          <p:cNvPr id="6" name="Shape 3"/>
          <p:cNvSpPr/>
          <p:nvPr/>
        </p:nvSpPr>
        <p:spPr>
          <a:xfrm>
            <a:off x="640080" y="2377440"/>
            <a:ext cx="566928" cy="566928"/>
          </a:xfrm>
          <a:prstGeom prst="ellipse">
            <a:avLst/>
          </a:prstGeom>
          <a:solidFill>
            <a:srgbClr val="8FB4D6"/>
          </a:solidFill>
          <a:ln w="12700">
            <a:solidFill>
              <a:srgbClr val="8FB4D6"/>
            </a:solidFill>
            <a:prstDash val="solid"/>
          </a:ln>
        </p:spPr>
      </p:sp>
      <p:sp>
        <p:nvSpPr>
          <p:cNvPr id="7" name="Text 4"/>
          <p:cNvSpPr/>
          <p:nvPr/>
        </p:nvSpPr>
        <p:spPr>
          <a:xfrm>
            <a:off x="640080" y="2377440"/>
            <a:ext cx="566928" cy="566928"/>
          </a:xfrm>
          <a:prstGeom prst="rect">
            <a:avLst/>
          </a:prstGeom>
          <a:noFill/>
          <a:ln/>
        </p:spPr>
        <p:txBody>
          <a:bodyPr wrap="square" lIns="0" tIns="0" rIns="0" bIns="0" rtlCol="0" anchor="ctr"/>
          <a:lstStyle/>
          <a:p>
            <a:pPr marL="0" indent="0" algn="ctr">
              <a:buNone/>
            </a:pPr>
            <a:r>
              <a:rPr lang="en-US" sz="2000" b="1" dirty="0">
                <a:solidFill>
                  <a:srgbClr val="102A43"/>
                </a:solidFill>
                <a:latin typeface="Cambria" pitchFamily="34" charset="0"/>
                <a:ea typeface="Cambria" pitchFamily="34" charset="-122"/>
                <a:cs typeface="Cambria" pitchFamily="34" charset="-120"/>
              </a:rPr>
              <a:t>1</a:t>
            </a:r>
            <a:endParaRPr lang="en-US" sz="2000" dirty="0"/>
          </a:p>
        </p:txBody>
      </p:sp>
      <p:sp>
        <p:nvSpPr>
          <p:cNvPr id="8" name="Text 5"/>
          <p:cNvSpPr/>
          <p:nvPr/>
        </p:nvSpPr>
        <p:spPr>
          <a:xfrm>
            <a:off x="640080" y="3154680"/>
            <a:ext cx="2468880" cy="640080"/>
          </a:xfrm>
          <a:prstGeom prst="rect">
            <a:avLst/>
          </a:prstGeom>
          <a:noFill/>
          <a:ln/>
        </p:spPr>
        <p:txBody>
          <a:bodyPr wrap="square" lIns="0" tIns="0" rIns="0" bIns="0" rtlCol="0" anchor="ctr"/>
          <a:lstStyle/>
          <a:p>
            <a:pPr marL="0" indent="0">
              <a:lnSpc>
                <a:spcPct val="100000"/>
              </a:lnSpc>
              <a:buNone/>
            </a:pPr>
            <a:r>
              <a:rPr lang="en-US" sz="1800" b="1" dirty="0">
                <a:solidFill>
                  <a:srgbClr val="FFFFFF"/>
                </a:solidFill>
                <a:latin typeface="Cambria" pitchFamily="34" charset="0"/>
                <a:ea typeface="Cambria" pitchFamily="34" charset="-122"/>
                <a:cs typeface="Cambria" pitchFamily="34" charset="-120"/>
              </a:rPr>
              <a:t>Build </a:t>
            </a:r>
            <a:r>
              <a:rPr lang="en-US" b="1" dirty="0">
                <a:solidFill>
                  <a:srgbClr val="FFFFFF"/>
                </a:solidFill>
                <a:latin typeface="Cambria" pitchFamily="34" charset="0"/>
                <a:ea typeface="Cambria" pitchFamily="34" charset="-122"/>
                <a:cs typeface="Cambria" pitchFamily="34" charset="-120"/>
              </a:rPr>
              <a:t>Phase</a:t>
            </a:r>
            <a:endParaRPr lang="en-US" sz="1800" dirty="0"/>
          </a:p>
        </p:txBody>
      </p:sp>
      <p:sp>
        <p:nvSpPr>
          <p:cNvPr id="9" name="Text 6"/>
          <p:cNvSpPr/>
          <p:nvPr/>
        </p:nvSpPr>
        <p:spPr>
          <a:xfrm>
            <a:off x="640080" y="3840480"/>
            <a:ext cx="2468880" cy="1783080"/>
          </a:xfrm>
          <a:prstGeom prst="rect">
            <a:avLst/>
          </a:prstGeom>
          <a:noFill/>
          <a:ln/>
        </p:spPr>
        <p:txBody>
          <a:bodyPr wrap="square" lIns="0" tIns="0" rIns="0" bIns="0" rtlCol="0" anchor="t"/>
          <a:lstStyle/>
          <a:p>
            <a:pPr marL="0" indent="0">
              <a:lnSpc>
                <a:spcPct val="115000"/>
              </a:lnSpc>
              <a:buNone/>
            </a:pPr>
            <a:r>
              <a:rPr lang="en-US" sz="1250" dirty="0">
                <a:solidFill>
                  <a:srgbClr val="A9B8C7"/>
                </a:solidFill>
                <a:latin typeface="Calibri" pitchFamily="34" charset="0"/>
                <a:ea typeface="Calibri" pitchFamily="34" charset="-122"/>
                <a:cs typeface="Calibri" pitchFamily="34" charset="-120"/>
              </a:rPr>
              <a:t>Order the AI server computers and configure it with LLM software and code.</a:t>
            </a:r>
            <a:endParaRPr lang="en-US" sz="1250" dirty="0"/>
          </a:p>
        </p:txBody>
      </p:sp>
      <p:sp>
        <p:nvSpPr>
          <p:cNvPr id="10" name="Shape 7"/>
          <p:cNvSpPr/>
          <p:nvPr/>
        </p:nvSpPr>
        <p:spPr>
          <a:xfrm>
            <a:off x="3447288" y="2377440"/>
            <a:ext cx="566928" cy="566928"/>
          </a:xfrm>
          <a:prstGeom prst="ellipse">
            <a:avLst/>
          </a:prstGeom>
          <a:solidFill>
            <a:srgbClr val="8FB4D6"/>
          </a:solidFill>
          <a:ln w="12700">
            <a:solidFill>
              <a:srgbClr val="8FB4D6"/>
            </a:solidFill>
            <a:prstDash val="solid"/>
          </a:ln>
        </p:spPr>
      </p:sp>
      <p:sp>
        <p:nvSpPr>
          <p:cNvPr id="11" name="Text 8"/>
          <p:cNvSpPr/>
          <p:nvPr/>
        </p:nvSpPr>
        <p:spPr>
          <a:xfrm>
            <a:off x="3447288" y="2377440"/>
            <a:ext cx="566928" cy="566928"/>
          </a:xfrm>
          <a:prstGeom prst="rect">
            <a:avLst/>
          </a:prstGeom>
          <a:noFill/>
          <a:ln/>
        </p:spPr>
        <p:txBody>
          <a:bodyPr wrap="square" lIns="0" tIns="0" rIns="0" bIns="0" rtlCol="0" anchor="ctr"/>
          <a:lstStyle/>
          <a:p>
            <a:pPr marL="0" indent="0" algn="ctr">
              <a:buNone/>
            </a:pPr>
            <a:r>
              <a:rPr lang="en-US" sz="2000" b="1" dirty="0">
                <a:solidFill>
                  <a:srgbClr val="102A43"/>
                </a:solidFill>
                <a:latin typeface="Cambria" pitchFamily="34" charset="0"/>
                <a:ea typeface="Cambria" pitchFamily="34" charset="-122"/>
                <a:cs typeface="Cambria" pitchFamily="34" charset="-120"/>
              </a:rPr>
              <a:t>2</a:t>
            </a:r>
            <a:endParaRPr lang="en-US" sz="2000" dirty="0"/>
          </a:p>
        </p:txBody>
      </p:sp>
      <p:sp>
        <p:nvSpPr>
          <p:cNvPr id="12" name="Text 9"/>
          <p:cNvSpPr/>
          <p:nvPr/>
        </p:nvSpPr>
        <p:spPr>
          <a:xfrm>
            <a:off x="3447288" y="3154680"/>
            <a:ext cx="2468880" cy="640080"/>
          </a:xfrm>
          <a:prstGeom prst="rect">
            <a:avLst/>
          </a:prstGeom>
          <a:noFill/>
          <a:ln/>
        </p:spPr>
        <p:txBody>
          <a:bodyPr wrap="square" lIns="0" tIns="0" rIns="0" bIns="0" rtlCol="0" anchor="ctr"/>
          <a:lstStyle/>
          <a:p>
            <a:pPr marL="0" indent="0">
              <a:lnSpc>
                <a:spcPct val="100000"/>
              </a:lnSpc>
              <a:buNone/>
            </a:pPr>
            <a:r>
              <a:rPr lang="en-US" b="1" dirty="0">
                <a:solidFill>
                  <a:srgbClr val="FFFFFF"/>
                </a:solidFill>
                <a:latin typeface="Cambria" pitchFamily="34" charset="0"/>
                <a:ea typeface="Cambria" pitchFamily="34" charset="-122"/>
              </a:rPr>
              <a:t>Install and Deploy</a:t>
            </a:r>
            <a:endParaRPr lang="en-US" sz="1800" dirty="0"/>
          </a:p>
        </p:txBody>
      </p:sp>
      <p:sp>
        <p:nvSpPr>
          <p:cNvPr id="13" name="Text 10"/>
          <p:cNvSpPr/>
          <p:nvPr/>
        </p:nvSpPr>
        <p:spPr>
          <a:xfrm>
            <a:off x="3447288" y="3840480"/>
            <a:ext cx="2468880" cy="1783080"/>
          </a:xfrm>
          <a:prstGeom prst="rect">
            <a:avLst/>
          </a:prstGeom>
          <a:noFill/>
          <a:ln/>
        </p:spPr>
        <p:txBody>
          <a:bodyPr wrap="square" lIns="0" tIns="0" rIns="0" bIns="0" rtlCol="0" anchor="t"/>
          <a:lstStyle/>
          <a:p>
            <a:pPr marL="0" indent="0">
              <a:lnSpc>
                <a:spcPct val="115000"/>
              </a:lnSpc>
              <a:buNone/>
            </a:pPr>
            <a:r>
              <a:rPr lang="en-US" sz="1250" dirty="0">
                <a:solidFill>
                  <a:srgbClr val="A9B8C7"/>
                </a:solidFill>
                <a:latin typeface="Calibri" pitchFamily="34" charset="0"/>
                <a:ea typeface="Calibri" pitchFamily="34" charset="-122"/>
                <a:cs typeface="Calibri" pitchFamily="34" charset="-120"/>
              </a:rPr>
              <a:t>On-site installation, accounts and access creation, with a written record of all settings changed.</a:t>
            </a:r>
            <a:endParaRPr lang="en-US" sz="1250" dirty="0"/>
          </a:p>
        </p:txBody>
      </p:sp>
      <p:sp>
        <p:nvSpPr>
          <p:cNvPr id="14" name="Shape 11"/>
          <p:cNvSpPr/>
          <p:nvPr/>
        </p:nvSpPr>
        <p:spPr>
          <a:xfrm>
            <a:off x="6254496" y="2377440"/>
            <a:ext cx="566928" cy="566928"/>
          </a:xfrm>
          <a:prstGeom prst="ellipse">
            <a:avLst/>
          </a:prstGeom>
          <a:solidFill>
            <a:srgbClr val="8FB4D6"/>
          </a:solidFill>
          <a:ln w="12700">
            <a:solidFill>
              <a:srgbClr val="8FB4D6"/>
            </a:solidFill>
            <a:prstDash val="solid"/>
          </a:ln>
        </p:spPr>
      </p:sp>
      <p:sp>
        <p:nvSpPr>
          <p:cNvPr id="15" name="Text 12"/>
          <p:cNvSpPr/>
          <p:nvPr/>
        </p:nvSpPr>
        <p:spPr>
          <a:xfrm>
            <a:off x="6254496" y="2377440"/>
            <a:ext cx="566928" cy="566928"/>
          </a:xfrm>
          <a:prstGeom prst="rect">
            <a:avLst/>
          </a:prstGeom>
          <a:noFill/>
          <a:ln/>
        </p:spPr>
        <p:txBody>
          <a:bodyPr wrap="square" lIns="0" tIns="0" rIns="0" bIns="0" rtlCol="0" anchor="ctr"/>
          <a:lstStyle/>
          <a:p>
            <a:pPr marL="0" indent="0" algn="ctr">
              <a:buNone/>
            </a:pPr>
            <a:r>
              <a:rPr lang="en-US" sz="2000" b="1" dirty="0">
                <a:solidFill>
                  <a:srgbClr val="102A43"/>
                </a:solidFill>
                <a:latin typeface="Cambria" pitchFamily="34" charset="0"/>
                <a:ea typeface="Cambria" pitchFamily="34" charset="-122"/>
                <a:cs typeface="Cambria" pitchFamily="34" charset="-120"/>
              </a:rPr>
              <a:t>3</a:t>
            </a:r>
            <a:endParaRPr lang="en-US" sz="2000" dirty="0"/>
          </a:p>
        </p:txBody>
      </p:sp>
      <p:sp>
        <p:nvSpPr>
          <p:cNvPr id="16" name="Text 13"/>
          <p:cNvSpPr/>
          <p:nvPr/>
        </p:nvSpPr>
        <p:spPr>
          <a:xfrm>
            <a:off x="6254496" y="3154680"/>
            <a:ext cx="2468880" cy="640080"/>
          </a:xfrm>
          <a:prstGeom prst="rect">
            <a:avLst/>
          </a:prstGeom>
          <a:noFill/>
          <a:ln/>
        </p:spPr>
        <p:txBody>
          <a:bodyPr wrap="square" lIns="0" tIns="0" rIns="0" bIns="0" rtlCol="0" anchor="ctr"/>
          <a:lstStyle/>
          <a:p>
            <a:pPr marL="0" indent="0">
              <a:lnSpc>
                <a:spcPct val="100000"/>
              </a:lnSpc>
              <a:buNone/>
            </a:pPr>
            <a:r>
              <a:rPr lang="en-US" sz="1800" b="1" dirty="0">
                <a:solidFill>
                  <a:srgbClr val="FFFFFF"/>
                </a:solidFill>
                <a:latin typeface="Cambria" pitchFamily="34" charset="0"/>
                <a:ea typeface="Cambria" pitchFamily="34" charset="-122"/>
                <a:cs typeface="Cambria" pitchFamily="34" charset="-120"/>
              </a:rPr>
              <a:t>Train and Hand </a:t>
            </a:r>
            <a:r>
              <a:rPr lang="en-US" b="1" dirty="0">
                <a:solidFill>
                  <a:srgbClr val="FFFFFF"/>
                </a:solidFill>
                <a:latin typeface="Cambria" pitchFamily="34" charset="0"/>
                <a:ea typeface="Cambria" pitchFamily="34" charset="-122"/>
                <a:cs typeface="Cambria" pitchFamily="34" charset="-120"/>
              </a:rPr>
              <a:t>O</a:t>
            </a:r>
            <a:r>
              <a:rPr lang="en-US" sz="1800" b="1" dirty="0">
                <a:solidFill>
                  <a:srgbClr val="FFFFFF"/>
                </a:solidFill>
                <a:latin typeface="Cambria" pitchFamily="34" charset="0"/>
                <a:ea typeface="Cambria" pitchFamily="34" charset="-122"/>
                <a:cs typeface="Cambria" pitchFamily="34" charset="-120"/>
              </a:rPr>
              <a:t>ver</a:t>
            </a:r>
            <a:endParaRPr lang="en-US" sz="1800" dirty="0"/>
          </a:p>
        </p:txBody>
      </p:sp>
      <p:sp>
        <p:nvSpPr>
          <p:cNvPr id="17" name="Text 14"/>
          <p:cNvSpPr/>
          <p:nvPr/>
        </p:nvSpPr>
        <p:spPr>
          <a:xfrm>
            <a:off x="6254496" y="3840480"/>
            <a:ext cx="2468880" cy="1783080"/>
          </a:xfrm>
          <a:prstGeom prst="rect">
            <a:avLst/>
          </a:prstGeom>
          <a:noFill/>
          <a:ln/>
        </p:spPr>
        <p:txBody>
          <a:bodyPr wrap="square" lIns="0" tIns="0" rIns="0" bIns="0" rtlCol="0" anchor="t"/>
          <a:lstStyle/>
          <a:p>
            <a:pPr marL="0" indent="0">
              <a:lnSpc>
                <a:spcPct val="115000"/>
              </a:lnSpc>
              <a:buNone/>
            </a:pPr>
            <a:r>
              <a:rPr lang="en-US" sz="1250" dirty="0">
                <a:solidFill>
                  <a:srgbClr val="A9B8C7"/>
                </a:solidFill>
                <a:latin typeface="Calibri" pitchFamily="34" charset="0"/>
                <a:ea typeface="Calibri" pitchFamily="34" charset="-122"/>
                <a:cs typeface="Calibri" pitchFamily="34" charset="-120"/>
              </a:rPr>
              <a:t>One hour hands-on learning session for the admin to understand the software, start up and shutdown procedures. Applicable documentation is supplied. </a:t>
            </a:r>
            <a:endParaRPr lang="en-US" sz="1250" dirty="0"/>
          </a:p>
        </p:txBody>
      </p:sp>
      <p:sp>
        <p:nvSpPr>
          <p:cNvPr id="22" name="Text 19"/>
          <p:cNvSpPr/>
          <p:nvPr/>
        </p:nvSpPr>
        <p:spPr>
          <a:xfrm>
            <a:off x="640080" y="5897880"/>
            <a:ext cx="10515600" cy="320040"/>
          </a:xfrm>
          <a:prstGeom prst="rect">
            <a:avLst/>
          </a:prstGeom>
          <a:noFill/>
          <a:ln/>
        </p:spPr>
        <p:txBody>
          <a:bodyPr wrap="square" lIns="0" tIns="0" rIns="0" bIns="0" rtlCol="0" anchor="ctr"/>
          <a:lstStyle/>
          <a:p>
            <a:pPr marL="0" indent="0">
              <a:buNone/>
            </a:pPr>
            <a:r>
              <a:rPr lang="en-US" sz="1600" b="1" dirty="0">
                <a:solidFill>
                  <a:srgbClr val="8FB4D6"/>
                </a:solidFill>
                <a:latin typeface="Cambria" pitchFamily="34" charset="0"/>
                <a:ea typeface="Cambria" pitchFamily="34" charset="-122"/>
                <a:cs typeface="Cambria" pitchFamily="34" charset="-120"/>
              </a:rPr>
              <a:t>One firm, one box, one point of contact — us.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AF7EF"/>
        </a:solidFill>
        <a:effectLst/>
      </p:bgPr>
    </p:bg>
    <p:spTree>
      <p:nvGrpSpPr>
        <p:cNvPr id="1" name=""/>
        <p:cNvGrpSpPr/>
        <p:nvPr/>
      </p:nvGrpSpPr>
      <p:grpSpPr>
        <a:xfrm>
          <a:off x="0" y="0"/>
          <a:ext cx="0" cy="0"/>
          <a:chOff x="0" y="0"/>
          <a:chExt cx="0" cy="0"/>
        </a:xfrm>
      </p:grpSpPr>
      <p:pic>
        <p:nvPicPr>
          <p:cNvPr id="2" name="Image 0" descr="logo_ink.png"/>
          <p:cNvPicPr>
            <a:picLocks noChangeAspect="1"/>
          </p:cNvPicPr>
          <p:nvPr/>
        </p:nvPicPr>
        <p:blipFill>
          <a:blip r:embed="rId2"/>
          <a:stretch>
            <a:fillRect/>
          </a:stretch>
        </p:blipFill>
        <p:spPr>
          <a:xfrm>
            <a:off x="10893000" y="438912"/>
            <a:ext cx="525359" cy="420624"/>
          </a:xfrm>
          <a:prstGeom prst="rect">
            <a:avLst/>
          </a:prstGeom>
        </p:spPr>
      </p:pic>
      <p:sp>
        <p:nvSpPr>
          <p:cNvPr id="3" name="Text 0"/>
          <p:cNvSpPr/>
          <p:nvPr/>
        </p:nvSpPr>
        <p:spPr>
          <a:xfrm>
            <a:off x="640080" y="566928"/>
            <a:ext cx="10908792" cy="256032"/>
          </a:xfrm>
          <a:prstGeom prst="rect">
            <a:avLst/>
          </a:prstGeom>
          <a:noFill/>
          <a:ln/>
        </p:spPr>
        <p:txBody>
          <a:bodyPr wrap="square" lIns="0" tIns="0" rIns="0" bIns="0" rtlCol="0" anchor="ctr"/>
          <a:lstStyle/>
          <a:p>
            <a:pPr marL="0" indent="0">
              <a:buNone/>
            </a:pPr>
            <a:r>
              <a:rPr lang="en-US" sz="1100" b="1" kern="0" spc="300" dirty="0">
                <a:solidFill>
                  <a:srgbClr val="2F5F87"/>
                </a:solidFill>
                <a:latin typeface="Calibri" pitchFamily="34" charset="0"/>
                <a:ea typeface="Calibri" pitchFamily="34" charset="-122"/>
                <a:cs typeface="Calibri" pitchFamily="34" charset="-120"/>
              </a:rPr>
              <a:t>THE HARDWARE</a:t>
            </a:r>
            <a:endParaRPr lang="en-US" sz="1100" dirty="0"/>
          </a:p>
        </p:txBody>
      </p:sp>
      <p:sp>
        <p:nvSpPr>
          <p:cNvPr id="4" name="Text 1"/>
          <p:cNvSpPr/>
          <p:nvPr/>
        </p:nvSpPr>
        <p:spPr>
          <a:xfrm>
            <a:off x="640080" y="960120"/>
            <a:ext cx="10908792" cy="822960"/>
          </a:xfrm>
          <a:prstGeom prst="rect">
            <a:avLst/>
          </a:prstGeom>
          <a:noFill/>
          <a:ln/>
        </p:spPr>
        <p:txBody>
          <a:bodyPr wrap="square" lIns="0" tIns="0" rIns="0" bIns="0" rtlCol="0" anchor="t"/>
          <a:lstStyle/>
          <a:p>
            <a:pPr marL="0" indent="0">
              <a:lnSpc>
                <a:spcPct val="102000"/>
              </a:lnSpc>
              <a:buNone/>
            </a:pPr>
            <a:r>
              <a:rPr lang="en-US" sz="3600" b="1" dirty="0">
                <a:solidFill>
                  <a:srgbClr val="102A43"/>
                </a:solidFill>
                <a:latin typeface="Cambria" pitchFamily="34" charset="0"/>
                <a:ea typeface="Cambria" pitchFamily="34" charset="-122"/>
                <a:cs typeface="Cambria" pitchFamily="34" charset="-120"/>
              </a:rPr>
              <a:t>Small footprint. Silent operation.</a:t>
            </a:r>
            <a:endParaRPr lang="en-US" sz="3600" dirty="0"/>
          </a:p>
        </p:txBody>
      </p:sp>
      <p:sp>
        <p:nvSpPr>
          <p:cNvPr id="5" name="Text 2"/>
          <p:cNvSpPr/>
          <p:nvPr/>
        </p:nvSpPr>
        <p:spPr>
          <a:xfrm>
            <a:off x="640080" y="1993392"/>
            <a:ext cx="10515600" cy="640080"/>
          </a:xfrm>
          <a:prstGeom prst="rect">
            <a:avLst/>
          </a:prstGeom>
          <a:noFill/>
          <a:ln/>
        </p:spPr>
        <p:txBody>
          <a:bodyPr wrap="square" lIns="0" tIns="0" rIns="0" bIns="0" rtlCol="0" anchor="ctr"/>
          <a:lstStyle/>
          <a:p>
            <a:pPr marL="0" indent="0">
              <a:lnSpc>
                <a:spcPct val="115000"/>
              </a:lnSpc>
              <a:buNone/>
            </a:pPr>
            <a:r>
              <a:rPr lang="en-US" sz="1500" dirty="0">
                <a:solidFill>
                  <a:srgbClr val="55606C"/>
                </a:solidFill>
                <a:latin typeface="Calibri" pitchFamily="34" charset="0"/>
                <a:ea typeface="Calibri" pitchFamily="34" charset="-122"/>
                <a:cs typeface="Calibri" pitchFamily="34" charset="-120"/>
              </a:rPr>
              <a:t>The ASUS Ascent GX10 is about the size of a hardback book and light enough to move with one hand. It sits on a desk or a shelf, out of the way, and runs quietly enough that no one in the room notices it's there.</a:t>
            </a:r>
            <a:endParaRPr lang="en-US" sz="1500" dirty="0"/>
          </a:p>
        </p:txBody>
      </p:sp>
      <p:sp>
        <p:nvSpPr>
          <p:cNvPr id="6" name="ImageCard"/>
          <p:cNvSpPr/>
          <p:nvPr/>
        </p:nvSpPr>
        <p:spPr>
          <a:xfrm>
            <a:off x="640080" y="2971800"/>
            <a:ext cx="6800000" cy="3500000"/>
          </a:xfrm>
          <a:prstGeom prst="roundRect">
            <a:avLst>
              <a:gd name="adj" fmla="val 3200"/>
            </a:avLst>
          </a:prstGeom>
          <a:solidFill>
            <a:srgbClr val="FFFFFF"/>
          </a:solidFill>
          <a:ln w="9525">
            <a:solidFill>
              <a:srgbClr val="DDD8CB"/>
            </a:solidFill>
            <a:prstDash val="solid"/>
          </a:ln>
          <a:effectLst>
            <a:outerShdw blurRad="127000" dist="25400" dir="5400000" algn="bl" rotWithShape="0">
              <a:srgbClr val="000000">
                <a:alpha val="9000"/>
              </a:srgbClr>
            </a:outerShdw>
          </a:effectLst>
        </p:spPr>
        <p:txBody>
          <a:bodyPr/>
          <a:lstStyle/>
          <a:p>
            <a:endParaRPr lang="en-US" dirty="0"/>
          </a:p>
        </p:txBody>
      </p:sp>
      <p:pic>
        <p:nvPicPr>
          <p:cNvPr id="7" name="GX10 Photo" descr="ASUS Ascent GX10"/>
          <p:cNvPicPr>
            <a:picLocks noChangeAspect="1"/>
          </p:cNvPicPr>
          <p:nvPr/>
        </p:nvPicPr>
        <p:blipFill>
          <a:blip r:embed="rId3"/>
          <a:stretch>
            <a:fillRect/>
          </a:stretch>
        </p:blipFill>
        <p:spPr>
          <a:xfrm>
            <a:off x="1140080" y="3391800"/>
            <a:ext cx="4485000" cy="2180000"/>
          </a:xfrm>
          <a:prstGeom prst="rect">
            <a:avLst/>
          </a:prstGeom>
        </p:spPr>
      </p:pic>
      <p:cxnSp>
        <p:nvCxnSpPr>
          <p:cNvPr id="8" name="WidthLine"/>
          <p:cNvCxnSpPr/>
          <p:nvPr/>
        </p:nvCxnSpPr>
        <p:spPr>
          <a:xfrm>
            <a:off x="1140080" y="5930400"/>
            <a:ext cx="4485000" cy="0"/>
          </a:xfrm>
          <a:prstGeom prst="line">
            <a:avLst/>
          </a:prstGeom>
          <a:ln w="15875">
            <a:solidFill>
              <a:srgbClr val="2F5F87"/>
            </a:solidFill>
            <a:headEnd type="triangle" w="med" len="med"/>
            <a:tailEnd type="triangle" w="med" len="med"/>
          </a:ln>
        </p:spPr>
      </p:cxnSp>
      <p:sp>
        <p:nvSpPr>
          <p:cNvPr id="9" name="WidthLabelCaps"/>
          <p:cNvSpPr/>
          <p:nvPr/>
        </p:nvSpPr>
        <p:spPr>
          <a:xfrm>
            <a:off x="1140080" y="5641800"/>
            <a:ext cx="4485000" cy="228600"/>
          </a:xfrm>
          <a:prstGeom prst="rect">
            <a:avLst/>
          </a:prstGeom>
          <a:noFill/>
          <a:ln/>
        </p:spPr>
        <p:txBody>
          <a:bodyPr wrap="square" lIns="0" tIns="0" rIns="0" bIns="0" rtlCol="0" anchor="ctr"/>
          <a:lstStyle/>
          <a:p>
            <a:pPr marL="0" indent="0" algn="ctr">
              <a:buNone/>
            </a:pPr>
            <a:r>
              <a:rPr lang="en-US" sz="1000" b="1" kern="0" spc="250" dirty="0">
                <a:solidFill>
                  <a:srgbClr val="2F5F87"/>
                </a:solidFill>
                <a:latin typeface="Calibri" pitchFamily="34" charset="0"/>
                <a:ea typeface="Calibri" pitchFamily="34" charset="-122"/>
                <a:cs typeface="Calibri" pitchFamily="34" charset="-120"/>
              </a:rPr>
              <a:t>WIDTH &amp; DEPTH</a:t>
            </a:r>
            <a:endParaRPr lang="en-US" sz="1000" dirty="0"/>
          </a:p>
        </p:txBody>
      </p:sp>
      <p:sp>
        <p:nvSpPr>
          <p:cNvPr id="10" name="WidthLabelValue"/>
          <p:cNvSpPr/>
          <p:nvPr/>
        </p:nvSpPr>
        <p:spPr>
          <a:xfrm>
            <a:off x="1140080" y="6010400"/>
            <a:ext cx="4485000" cy="320040"/>
          </a:xfrm>
          <a:prstGeom prst="rect">
            <a:avLst/>
          </a:prstGeom>
          <a:noFill/>
          <a:ln/>
        </p:spPr>
        <p:txBody>
          <a:bodyPr wrap="square" lIns="0" tIns="0" rIns="0" bIns="0" rtlCol="0" anchor="ctr"/>
          <a:lstStyle/>
          <a:p>
            <a:pPr marL="0" indent="0" algn="ctr">
              <a:buNone/>
            </a:pPr>
            <a:r>
              <a:rPr lang="en-US" sz="1400" b="1" dirty="0">
                <a:solidFill>
                  <a:srgbClr val="102A43"/>
                </a:solidFill>
                <a:latin typeface="Cambria" pitchFamily="34" charset="0"/>
                <a:ea typeface="Cambria" pitchFamily="34" charset="-122"/>
                <a:cs typeface="Cambria" pitchFamily="34" charset="-120"/>
              </a:rPr>
              <a:t>5.91 in × 5.91 in</a:t>
            </a:r>
            <a:endParaRPr lang="en-US" sz="1400" dirty="0"/>
          </a:p>
        </p:txBody>
      </p:sp>
      <p:cxnSp>
        <p:nvCxnSpPr>
          <p:cNvPr id="11" name="HeightLine"/>
          <p:cNvCxnSpPr/>
          <p:nvPr/>
        </p:nvCxnSpPr>
        <p:spPr>
          <a:xfrm>
            <a:off x="5885160" y="3391800"/>
            <a:ext cx="0" cy="2180000"/>
          </a:xfrm>
          <a:prstGeom prst="line">
            <a:avLst/>
          </a:prstGeom>
          <a:ln w="15875">
            <a:solidFill>
              <a:srgbClr val="2F5F87"/>
            </a:solidFill>
            <a:headEnd type="triangle" w="med" len="med"/>
            <a:tailEnd type="triangle" w="med" len="med"/>
          </a:ln>
        </p:spPr>
      </p:cxnSp>
      <p:sp>
        <p:nvSpPr>
          <p:cNvPr id="12" name="HeightLabel"/>
          <p:cNvSpPr/>
          <p:nvPr/>
        </p:nvSpPr>
        <p:spPr>
          <a:xfrm>
            <a:off x="6005160" y="3391800"/>
            <a:ext cx="1334920" cy="2180000"/>
          </a:xfrm>
          <a:prstGeom prst="rect">
            <a:avLst/>
          </a:prstGeom>
          <a:noFill/>
          <a:ln/>
        </p:spPr>
        <p:txBody>
          <a:bodyPr wrap="square" lIns="0" tIns="0" rIns="0" bIns="0" rtlCol="0" anchor="ctr"/>
          <a:lstStyle/>
          <a:p>
            <a:pPr marL="0" indent="0">
              <a:buNone/>
            </a:pPr>
            <a:r>
              <a:rPr lang="en-US" sz="1000" b="1" kern="0" spc="250" dirty="0">
                <a:solidFill>
                  <a:srgbClr val="2F5F87"/>
                </a:solidFill>
                <a:latin typeface="Calibri" pitchFamily="34" charset="0"/>
                <a:ea typeface="Calibri" pitchFamily="34" charset="-122"/>
                <a:cs typeface="Calibri" pitchFamily="34" charset="-120"/>
              </a:rPr>
              <a:t>HEIGHT</a:t>
            </a:r>
            <a:endParaRPr lang="en-US" sz="1000" dirty="0"/>
          </a:p>
          <a:p>
            <a:pPr marL="0" indent="0">
              <a:buNone/>
            </a:pPr>
            <a:r>
              <a:rPr lang="en-US" sz="1400" b="1" dirty="0">
                <a:solidFill>
                  <a:srgbClr val="102A43"/>
                </a:solidFill>
                <a:latin typeface="Cambria" pitchFamily="34" charset="0"/>
                <a:ea typeface="Cambria" pitchFamily="34" charset="-122"/>
                <a:cs typeface="Cambria" pitchFamily="34" charset="-120"/>
              </a:rPr>
              <a:t>2.01 in</a:t>
            </a:r>
          </a:p>
          <a:p>
            <a:pPr marL="0" indent="0">
              <a:buNone/>
            </a:pPr>
            <a:endParaRPr lang="en-US" sz="1200" dirty="0">
              <a:solidFill>
                <a:srgbClr val="55606C"/>
              </a:solidFill>
              <a:latin typeface="Calibri" pitchFamily="34" charset="0"/>
              <a:ea typeface="Calibri" pitchFamily="34" charset="-122"/>
              <a:cs typeface="Calibri" pitchFamily="34" charset="-120"/>
            </a:endParaRPr>
          </a:p>
        </p:txBody>
      </p:sp>
      <p:sp>
        <p:nvSpPr>
          <p:cNvPr id="13" name="WeightCard"/>
          <p:cNvSpPr/>
          <p:nvPr/>
        </p:nvSpPr>
        <p:spPr>
          <a:xfrm>
            <a:off x="7760080" y="2971800"/>
            <a:ext cx="3151840" cy="3500000"/>
          </a:xfrm>
          <a:prstGeom prst="roundRect">
            <a:avLst>
              <a:gd name="adj" fmla="val 3200"/>
            </a:avLst>
          </a:prstGeom>
          <a:solidFill>
            <a:srgbClr val="FFFFFF"/>
          </a:solidFill>
          <a:ln w="9525">
            <a:solidFill>
              <a:srgbClr val="DDD8CB"/>
            </a:solidFill>
            <a:prstDash val="solid"/>
          </a:ln>
          <a:effectLst>
            <a:outerShdw blurRad="127000" dist="25400" dir="5400000" algn="bl" rotWithShape="0">
              <a:srgbClr val="000000">
                <a:alpha val="9000"/>
              </a:srgbClr>
            </a:outerShdw>
          </a:effectLst>
        </p:spPr>
        <p:txBody>
          <a:bodyPr/>
          <a:lstStyle/>
          <a:p>
            <a:endParaRPr lang="en-US" dirty="0"/>
          </a:p>
        </p:txBody>
      </p:sp>
      <p:sp>
        <p:nvSpPr>
          <p:cNvPr id="14" name="WeightLabel"/>
          <p:cNvSpPr/>
          <p:nvPr/>
        </p:nvSpPr>
        <p:spPr>
          <a:xfrm>
            <a:off x="8035080" y="3503800"/>
            <a:ext cx="2601840" cy="274320"/>
          </a:xfrm>
          <a:prstGeom prst="rect">
            <a:avLst/>
          </a:prstGeom>
          <a:noFill/>
          <a:ln/>
        </p:spPr>
        <p:txBody>
          <a:bodyPr wrap="square" lIns="0" tIns="0" rIns="0" bIns="0" rtlCol="0" anchor="ctr"/>
          <a:lstStyle/>
          <a:p>
            <a:pPr marL="0" indent="0" algn="ctr">
              <a:buNone/>
            </a:pPr>
            <a:r>
              <a:rPr lang="en-US" sz="1000" b="1" kern="0" spc="300" dirty="0">
                <a:solidFill>
                  <a:srgbClr val="2F5F87"/>
                </a:solidFill>
                <a:latin typeface="Calibri" pitchFamily="34" charset="0"/>
                <a:ea typeface="Calibri" pitchFamily="34" charset="-122"/>
                <a:cs typeface="Calibri" pitchFamily="34" charset="-120"/>
              </a:rPr>
              <a:t>WEIGHT</a:t>
            </a:r>
            <a:endParaRPr lang="en-US" sz="1000" dirty="0"/>
          </a:p>
        </p:txBody>
      </p:sp>
      <p:sp>
        <p:nvSpPr>
          <p:cNvPr id="15" name="WeightIcon"/>
          <p:cNvSpPr/>
          <p:nvPr/>
        </p:nvSpPr>
        <p:spPr>
          <a:xfrm>
            <a:off x="8994800" y="4083120"/>
            <a:ext cx="682280" cy="682280"/>
          </a:xfrm>
          <a:prstGeom prst="ellipse">
            <a:avLst/>
          </a:prstGeom>
          <a:solidFill>
            <a:srgbClr val="EAF0F5"/>
          </a:solidFill>
          <a:ln>
            <a:noFill/>
          </a:ln>
        </p:spPr>
        <p:txBody>
          <a:bodyPr wrap="square" lIns="0" tIns="0" rIns="0" bIns="0" rtlCol="0" anchor="ctr"/>
          <a:lstStyle/>
          <a:p>
            <a:pPr marL="0" indent="0" algn="ctr">
              <a:buNone/>
            </a:pPr>
            <a:r>
              <a:rPr lang="en-US" sz="2000" b="1" dirty="0">
                <a:solidFill>
                  <a:srgbClr val="2F5F87"/>
                </a:solidFill>
                <a:latin typeface="Cambria" pitchFamily="34" charset="0"/>
              </a:rPr>
              <a:t>⚖</a:t>
            </a:r>
            <a:endParaRPr lang="en-US" sz="2000" dirty="0"/>
          </a:p>
        </p:txBody>
      </p:sp>
      <p:sp>
        <p:nvSpPr>
          <p:cNvPr id="16" name="WeightValue"/>
          <p:cNvSpPr/>
          <p:nvPr/>
        </p:nvSpPr>
        <p:spPr>
          <a:xfrm>
            <a:off x="8035080" y="4845520"/>
            <a:ext cx="2601840" cy="640080"/>
          </a:xfrm>
          <a:prstGeom prst="rect">
            <a:avLst/>
          </a:prstGeom>
          <a:noFill/>
          <a:ln/>
        </p:spPr>
        <p:txBody>
          <a:bodyPr wrap="square" lIns="0" tIns="0" rIns="0" bIns="0" rtlCol="0" anchor="ctr"/>
          <a:lstStyle/>
          <a:p>
            <a:pPr marL="0" indent="0" algn="ctr">
              <a:buNone/>
            </a:pPr>
            <a:r>
              <a:rPr lang="en-US" sz="3600" b="1" dirty="0">
                <a:solidFill>
                  <a:srgbClr val="2F5F87"/>
                </a:solidFill>
                <a:latin typeface="Cambria" pitchFamily="34" charset="0"/>
                <a:ea typeface="Cambria" pitchFamily="34" charset="-122"/>
              </a:rPr>
              <a:t>3.26 lbs.</a:t>
            </a:r>
            <a:endParaRPr lang="en-US" sz="3600" dirty="0"/>
          </a:p>
        </p:txBody>
      </p:sp>
      <p:sp>
        <p:nvSpPr>
          <p:cNvPr id="17" name="WeightSub"/>
          <p:cNvSpPr/>
          <p:nvPr/>
        </p:nvSpPr>
        <p:spPr>
          <a:xfrm>
            <a:off x="8110080" y="5485600"/>
            <a:ext cx="2451840" cy="640080"/>
          </a:xfrm>
          <a:prstGeom prst="rect">
            <a:avLst/>
          </a:prstGeom>
          <a:noFill/>
          <a:ln/>
        </p:spPr>
        <p:txBody>
          <a:bodyPr wrap="square" lIns="0" tIns="0" rIns="0" bIns="0" rtlCol="0" anchor="t"/>
          <a:lstStyle/>
          <a:p>
            <a:pPr marL="0" indent="0" algn="ctr">
              <a:lnSpc>
                <a:spcPct val="115000"/>
              </a:lnSpc>
              <a:buNone/>
            </a:pPr>
            <a:r>
              <a:rPr lang="en-US" sz="1100" dirty="0">
                <a:solidFill>
                  <a:srgbClr val="55606C"/>
                </a:solidFill>
                <a:latin typeface="Calibri" pitchFamily="34" charset="0"/>
                <a:ea typeface="Calibri" pitchFamily="34" charset="-122"/>
                <a:cs typeface="Calibri" pitchFamily="34" charset="-120"/>
              </a:rPr>
              <a:t>Light enough to lift with one hand</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
    <p:bg>
      <p:bgPr>
        <a:solidFill>
          <a:srgbClr val="FAF7EF"/>
        </a:solidFill>
        <a:effectLst/>
      </p:bgPr>
    </p:bg>
    <p:spTree>
      <p:nvGrpSpPr>
        <p:cNvPr id="1" name=""/>
        <p:cNvGrpSpPr/>
        <p:nvPr/>
      </p:nvGrpSpPr>
      <p:grpSpPr>
        <a:xfrm>
          <a:off x="0" y="0"/>
          <a:ext cx="0" cy="0"/>
          <a:chOff x="0" y="0"/>
          <a:chExt cx="0" cy="0"/>
        </a:xfrm>
      </p:grpSpPr>
      <p:pic>
        <p:nvPicPr>
          <p:cNvPr id="2" name="Image 0" descr="logo_ink.png"/>
          <p:cNvPicPr>
            <a:picLocks noChangeAspect="1"/>
          </p:cNvPicPr>
          <p:nvPr/>
        </p:nvPicPr>
        <p:blipFill>
          <a:blip r:embed="rId2"/>
          <a:stretch>
            <a:fillRect/>
          </a:stretch>
        </p:blipFill>
        <p:spPr>
          <a:xfrm>
            <a:off x="10893000" y="438912"/>
            <a:ext cx="525359" cy="420624"/>
          </a:xfrm>
          <a:prstGeom prst="rect">
            <a:avLst/>
          </a:prstGeom>
        </p:spPr>
      </p:pic>
      <p:sp>
        <p:nvSpPr>
          <p:cNvPr id="3" name="Text 0"/>
          <p:cNvSpPr/>
          <p:nvPr/>
        </p:nvSpPr>
        <p:spPr>
          <a:xfrm>
            <a:off x="640080" y="566928"/>
            <a:ext cx="10908792" cy="256032"/>
          </a:xfrm>
          <a:prstGeom prst="rect">
            <a:avLst/>
          </a:prstGeom>
          <a:noFill/>
          <a:ln/>
        </p:spPr>
        <p:txBody>
          <a:bodyPr wrap="square" lIns="0" tIns="0" rIns="0" bIns="0" rtlCol="0" anchor="ctr"/>
          <a:lstStyle/>
          <a:p>
            <a:pPr marL="0" indent="0">
              <a:buNone/>
            </a:pPr>
            <a:r>
              <a:rPr lang="en-US" sz="1100" b="1" kern="0" spc="300" dirty="0">
                <a:solidFill>
                  <a:srgbClr val="2F5F87"/>
                </a:solidFill>
                <a:latin typeface="Calibri" pitchFamily="34" charset="0"/>
                <a:ea typeface="Calibri" pitchFamily="34" charset="-122"/>
                <a:cs typeface="Calibri" pitchFamily="34" charset="-120"/>
              </a:rPr>
              <a:t>WHAT IT COSTS</a:t>
            </a:r>
            <a:endParaRPr lang="en-US" sz="1100" dirty="0"/>
          </a:p>
        </p:txBody>
      </p:sp>
      <p:sp>
        <p:nvSpPr>
          <p:cNvPr id="4" name="Text 1"/>
          <p:cNvSpPr/>
          <p:nvPr/>
        </p:nvSpPr>
        <p:spPr>
          <a:xfrm>
            <a:off x="640080" y="960120"/>
            <a:ext cx="9875520" cy="822960"/>
          </a:xfrm>
          <a:prstGeom prst="rect">
            <a:avLst/>
          </a:prstGeom>
          <a:noFill/>
          <a:ln/>
        </p:spPr>
        <p:txBody>
          <a:bodyPr wrap="square" lIns="0" tIns="0" rIns="0" bIns="0" rtlCol="0" anchor="t"/>
          <a:lstStyle/>
          <a:p>
            <a:pPr marL="0" indent="0">
              <a:lnSpc>
                <a:spcPct val="102000"/>
              </a:lnSpc>
              <a:buNone/>
            </a:pPr>
            <a:r>
              <a:rPr lang="en-US" sz="3600" b="1" dirty="0">
                <a:solidFill>
                  <a:srgbClr val="102A43"/>
                </a:solidFill>
                <a:latin typeface="Cambria" pitchFamily="34" charset="0"/>
                <a:ea typeface="Cambria" pitchFamily="34" charset="-122"/>
                <a:cs typeface="Cambria" pitchFamily="34" charset="-120"/>
              </a:rPr>
              <a:t>What you pay, and what you don't</a:t>
            </a:r>
            <a:endParaRPr lang="en-US" sz="3600" dirty="0"/>
          </a:p>
        </p:txBody>
      </p:sp>
      <p:sp>
        <p:nvSpPr>
          <p:cNvPr id="5" name="Text 2"/>
          <p:cNvSpPr/>
          <p:nvPr/>
        </p:nvSpPr>
        <p:spPr>
          <a:xfrm>
            <a:off x="640080" y="1993392"/>
            <a:ext cx="9692640" cy="640080"/>
          </a:xfrm>
          <a:prstGeom prst="rect">
            <a:avLst/>
          </a:prstGeom>
          <a:noFill/>
          <a:ln/>
        </p:spPr>
        <p:txBody>
          <a:bodyPr wrap="square" lIns="0" tIns="0" rIns="0" bIns="0" rtlCol="0" anchor="ctr"/>
          <a:lstStyle/>
          <a:p>
            <a:pPr marL="0" indent="0">
              <a:lnSpc>
                <a:spcPct val="115000"/>
              </a:lnSpc>
              <a:buNone/>
            </a:pPr>
            <a:r>
              <a:rPr lang="en-US" sz="1500" dirty="0">
                <a:solidFill>
                  <a:srgbClr val="55606C"/>
                </a:solidFill>
                <a:latin typeface="Calibri" pitchFamily="34" charset="0"/>
                <a:ea typeface="Calibri" pitchFamily="34" charset="-122"/>
                <a:cs typeface="Calibri" pitchFamily="34" charset="-120"/>
              </a:rPr>
              <a:t>Hardware you own outright, a flat setup fee, and the cost to keep it running. No subscription, no per-seat pricing, no per-query charges.</a:t>
            </a:r>
            <a:endParaRPr lang="en-US" sz="1500" dirty="0"/>
          </a:p>
        </p:txBody>
      </p:sp>
      <p:sp>
        <p:nvSpPr>
          <p:cNvPr id="6" name="Shape 3"/>
          <p:cNvSpPr/>
          <p:nvPr/>
        </p:nvSpPr>
        <p:spPr>
          <a:xfrm>
            <a:off x="640080" y="2971800"/>
            <a:ext cx="3383280" cy="2286000"/>
          </a:xfrm>
          <a:prstGeom prst="roundRect">
            <a:avLst>
              <a:gd name="adj" fmla="val 3200"/>
            </a:avLst>
          </a:prstGeom>
          <a:solidFill>
            <a:srgbClr val="FFFFFF"/>
          </a:solidFill>
          <a:ln w="9525">
            <a:solidFill>
              <a:srgbClr val="DDD8CB"/>
            </a:solidFill>
            <a:prstDash val="solid"/>
          </a:ln>
          <a:effectLst>
            <a:outerShdw blurRad="127000" dist="25400" dir="5400000" algn="bl" rotWithShape="0">
              <a:srgbClr val="000000">
                <a:alpha val="9000"/>
              </a:srgbClr>
            </a:outerShdw>
          </a:effectLst>
        </p:spPr>
        <p:txBody>
          <a:bodyPr/>
          <a:lstStyle/>
          <a:p>
            <a:endParaRPr lang="en-US" dirty="0"/>
          </a:p>
        </p:txBody>
      </p:sp>
      <p:sp>
        <p:nvSpPr>
          <p:cNvPr id="7" name="Text 4"/>
          <p:cNvSpPr/>
          <p:nvPr/>
        </p:nvSpPr>
        <p:spPr>
          <a:xfrm>
            <a:off x="914400" y="3154680"/>
            <a:ext cx="2834640" cy="868680"/>
          </a:xfrm>
          <a:prstGeom prst="rect">
            <a:avLst/>
          </a:prstGeom>
          <a:noFill/>
          <a:ln/>
        </p:spPr>
        <p:txBody>
          <a:bodyPr wrap="square" lIns="0" tIns="0" rIns="0" bIns="0" rtlCol="0" anchor="ctr"/>
          <a:lstStyle/>
          <a:p>
            <a:pPr marL="0" indent="0">
              <a:buNone/>
            </a:pPr>
            <a:r>
              <a:rPr lang="en-US" sz="5200" b="1" dirty="0">
                <a:solidFill>
                  <a:srgbClr val="2F5F87"/>
                </a:solidFill>
                <a:latin typeface="Cambria" pitchFamily="34" charset="0"/>
                <a:ea typeface="Cambria" pitchFamily="34" charset="-122"/>
                <a:cs typeface="Cambria" pitchFamily="34" charset="-120"/>
              </a:rPr>
              <a:t>$4–8K</a:t>
            </a:r>
            <a:endParaRPr lang="en-US" sz="5200" dirty="0"/>
          </a:p>
        </p:txBody>
      </p:sp>
      <p:sp>
        <p:nvSpPr>
          <p:cNvPr id="8" name="Text 5"/>
          <p:cNvSpPr/>
          <p:nvPr/>
        </p:nvSpPr>
        <p:spPr>
          <a:xfrm>
            <a:off x="914400" y="4041648"/>
            <a:ext cx="2834640" cy="868680"/>
          </a:xfrm>
          <a:prstGeom prst="rect">
            <a:avLst/>
          </a:prstGeom>
          <a:noFill/>
          <a:ln/>
        </p:spPr>
        <p:txBody>
          <a:bodyPr wrap="square" lIns="0" tIns="0" rIns="0" bIns="0" rtlCol="0" anchor="t"/>
          <a:lstStyle/>
          <a:p>
            <a:pPr marL="0" indent="0">
              <a:lnSpc>
                <a:spcPct val="115000"/>
              </a:lnSpc>
              <a:buNone/>
            </a:pPr>
            <a:r>
              <a:rPr lang="en-US" sz="1350" dirty="0">
                <a:solidFill>
                  <a:srgbClr val="102A43"/>
                </a:solidFill>
                <a:latin typeface="Calibri" pitchFamily="34" charset="0"/>
                <a:ea typeface="Calibri" pitchFamily="34" charset="-122"/>
                <a:cs typeface="Calibri" pitchFamily="34" charset="-120"/>
              </a:rPr>
              <a:t>for the server itself — one-time, yours to keep</a:t>
            </a:r>
            <a:endParaRPr lang="en-US" sz="1350" dirty="0"/>
          </a:p>
        </p:txBody>
      </p:sp>
      <p:sp>
        <p:nvSpPr>
          <p:cNvPr id="9" name="Text 6"/>
          <p:cNvSpPr/>
          <p:nvPr/>
        </p:nvSpPr>
        <p:spPr>
          <a:xfrm>
            <a:off x="914400" y="4937760"/>
            <a:ext cx="2834640" cy="274320"/>
          </a:xfrm>
          <a:prstGeom prst="rect">
            <a:avLst/>
          </a:prstGeom>
          <a:noFill/>
          <a:ln/>
        </p:spPr>
        <p:txBody>
          <a:bodyPr wrap="square" lIns="0" tIns="0" rIns="0" bIns="0" rtlCol="0" anchor="ctr"/>
          <a:lstStyle/>
          <a:p>
            <a:pPr marL="0" indent="0">
              <a:buNone/>
            </a:pPr>
            <a:r>
              <a:rPr lang="en-US" sz="900" dirty="0">
                <a:solidFill>
                  <a:srgbClr val="55606C"/>
                </a:solidFill>
                <a:latin typeface="Calibri" pitchFamily="34" charset="0"/>
                <a:ea typeface="Calibri" pitchFamily="34" charset="-122"/>
                <a:cs typeface="Calibri" pitchFamily="34" charset="-120"/>
              </a:rPr>
              <a:t>Depending on the model and storage you need</a:t>
            </a:r>
            <a:endParaRPr lang="en-US" sz="900" dirty="0"/>
          </a:p>
        </p:txBody>
      </p:sp>
      <p:sp>
        <p:nvSpPr>
          <p:cNvPr id="10" name="Shape 7"/>
          <p:cNvSpPr/>
          <p:nvPr/>
        </p:nvSpPr>
        <p:spPr>
          <a:xfrm>
            <a:off x="4407408" y="2971800"/>
            <a:ext cx="3383280" cy="2286000"/>
          </a:xfrm>
          <a:prstGeom prst="roundRect">
            <a:avLst>
              <a:gd name="adj" fmla="val 3200"/>
            </a:avLst>
          </a:prstGeom>
          <a:solidFill>
            <a:srgbClr val="FFFFFF"/>
          </a:solidFill>
          <a:ln w="9525">
            <a:solidFill>
              <a:srgbClr val="DDD8CB"/>
            </a:solidFill>
            <a:prstDash val="solid"/>
          </a:ln>
          <a:effectLst>
            <a:outerShdw blurRad="127000" dist="25400" dir="5400000" algn="bl" rotWithShape="0">
              <a:srgbClr val="000000">
                <a:alpha val="9000"/>
              </a:srgbClr>
            </a:outerShdw>
          </a:effectLst>
        </p:spPr>
      </p:sp>
      <p:sp>
        <p:nvSpPr>
          <p:cNvPr id="11" name="Text 8"/>
          <p:cNvSpPr/>
          <p:nvPr/>
        </p:nvSpPr>
        <p:spPr>
          <a:xfrm>
            <a:off x="4681728" y="3154680"/>
            <a:ext cx="2834640" cy="868680"/>
          </a:xfrm>
          <a:prstGeom prst="rect">
            <a:avLst/>
          </a:prstGeom>
          <a:noFill/>
          <a:ln/>
        </p:spPr>
        <p:txBody>
          <a:bodyPr wrap="square" lIns="0" tIns="0" rIns="0" bIns="0" rtlCol="0" anchor="ctr"/>
          <a:lstStyle/>
          <a:p>
            <a:pPr marL="0" indent="0">
              <a:buNone/>
            </a:pPr>
            <a:r>
              <a:rPr lang="en-US" sz="5200" b="1" dirty="0">
                <a:solidFill>
                  <a:srgbClr val="2F5F87"/>
                </a:solidFill>
                <a:latin typeface="Cambria" pitchFamily="34" charset="0"/>
                <a:ea typeface="Cambria" pitchFamily="34" charset="-122"/>
                <a:cs typeface="Cambria" pitchFamily="34" charset="-120"/>
              </a:rPr>
              <a:t>$2K</a:t>
            </a:r>
            <a:endParaRPr lang="en-US" sz="5200" dirty="0"/>
          </a:p>
        </p:txBody>
      </p:sp>
      <p:sp>
        <p:nvSpPr>
          <p:cNvPr id="12" name="Text 9"/>
          <p:cNvSpPr/>
          <p:nvPr/>
        </p:nvSpPr>
        <p:spPr>
          <a:xfrm>
            <a:off x="4681728" y="4041648"/>
            <a:ext cx="2834640" cy="868680"/>
          </a:xfrm>
          <a:prstGeom prst="rect">
            <a:avLst/>
          </a:prstGeom>
          <a:noFill/>
          <a:ln/>
        </p:spPr>
        <p:txBody>
          <a:bodyPr wrap="square" lIns="0" tIns="0" rIns="0" bIns="0" rtlCol="0" anchor="t"/>
          <a:lstStyle/>
          <a:p>
            <a:pPr marL="0" indent="0">
              <a:lnSpc>
                <a:spcPct val="115000"/>
              </a:lnSpc>
              <a:buNone/>
            </a:pPr>
            <a:r>
              <a:rPr lang="en-US" sz="1350" dirty="0">
                <a:solidFill>
                  <a:srgbClr val="102A43"/>
                </a:solidFill>
                <a:latin typeface="Calibri" pitchFamily="34" charset="0"/>
                <a:ea typeface="Calibri" pitchFamily="34" charset="-122"/>
                <a:cs typeface="Calibri" pitchFamily="34" charset="-120"/>
              </a:rPr>
              <a:t>flat setup fee — install, configuration, and staff training</a:t>
            </a:r>
            <a:endParaRPr lang="en-US" sz="1350" dirty="0"/>
          </a:p>
        </p:txBody>
      </p:sp>
      <p:sp>
        <p:nvSpPr>
          <p:cNvPr id="13" name="Text 10"/>
          <p:cNvSpPr/>
          <p:nvPr/>
        </p:nvSpPr>
        <p:spPr>
          <a:xfrm>
            <a:off x="4681728" y="4937760"/>
            <a:ext cx="2834640" cy="274320"/>
          </a:xfrm>
          <a:prstGeom prst="rect">
            <a:avLst/>
          </a:prstGeom>
          <a:noFill/>
          <a:ln/>
        </p:spPr>
        <p:txBody>
          <a:bodyPr wrap="square" lIns="0" tIns="0" rIns="0" bIns="0" rtlCol="0" anchor="ctr"/>
          <a:lstStyle/>
          <a:p>
            <a:pPr marL="0" indent="0">
              <a:buNone/>
            </a:pPr>
            <a:r>
              <a:rPr lang="en-US" sz="900" dirty="0">
                <a:solidFill>
                  <a:srgbClr val="55606C"/>
                </a:solidFill>
                <a:latin typeface="Calibri" pitchFamily="34" charset="0"/>
                <a:ea typeface="Calibri" pitchFamily="34" charset="-122"/>
                <a:cs typeface="Calibri" pitchFamily="34" charset="-120"/>
              </a:rPr>
              <a:t>Paid once, at handover</a:t>
            </a:r>
            <a:endParaRPr lang="en-US" sz="900" dirty="0"/>
          </a:p>
        </p:txBody>
      </p:sp>
      <p:sp>
        <p:nvSpPr>
          <p:cNvPr id="14" name="Shape 11"/>
          <p:cNvSpPr/>
          <p:nvPr/>
        </p:nvSpPr>
        <p:spPr>
          <a:xfrm>
            <a:off x="8174736" y="2971800"/>
            <a:ext cx="3383280" cy="2286000"/>
          </a:xfrm>
          <a:prstGeom prst="roundRect">
            <a:avLst>
              <a:gd name="adj" fmla="val 3200"/>
            </a:avLst>
          </a:prstGeom>
          <a:solidFill>
            <a:srgbClr val="FFFFFF"/>
          </a:solidFill>
          <a:ln w="9525">
            <a:solidFill>
              <a:srgbClr val="DDD8CB"/>
            </a:solidFill>
            <a:prstDash val="solid"/>
          </a:ln>
          <a:effectLst>
            <a:outerShdw blurRad="127000" dist="25400" dir="5400000" algn="bl" rotWithShape="0">
              <a:srgbClr val="000000">
                <a:alpha val="9000"/>
              </a:srgbClr>
            </a:outerShdw>
          </a:effectLst>
        </p:spPr>
      </p:sp>
      <p:sp>
        <p:nvSpPr>
          <p:cNvPr id="15" name="Text 12"/>
          <p:cNvSpPr/>
          <p:nvPr/>
        </p:nvSpPr>
        <p:spPr>
          <a:xfrm>
            <a:off x="8449056" y="3154680"/>
            <a:ext cx="2834640" cy="868680"/>
          </a:xfrm>
          <a:prstGeom prst="rect">
            <a:avLst/>
          </a:prstGeom>
          <a:noFill/>
          <a:ln/>
        </p:spPr>
        <p:txBody>
          <a:bodyPr wrap="square" lIns="0" tIns="0" rIns="0" bIns="0" rtlCol="0" anchor="ctr"/>
          <a:lstStyle/>
          <a:p>
            <a:pPr marL="0" indent="0">
              <a:buNone/>
            </a:pPr>
            <a:r>
              <a:rPr lang="en-US" sz="5200" b="1" dirty="0">
                <a:solidFill>
                  <a:srgbClr val="2F5F87"/>
                </a:solidFill>
                <a:latin typeface="Cambria" pitchFamily="34" charset="0"/>
                <a:ea typeface="Cambria" pitchFamily="34" charset="-122"/>
                <a:cs typeface="Cambria" pitchFamily="34" charset="-120"/>
              </a:rPr>
              <a:t>~$5/mo</a:t>
            </a:r>
            <a:endParaRPr lang="en-US" sz="5200" dirty="0"/>
          </a:p>
        </p:txBody>
      </p:sp>
      <p:sp>
        <p:nvSpPr>
          <p:cNvPr id="16" name="Text 13"/>
          <p:cNvSpPr/>
          <p:nvPr/>
        </p:nvSpPr>
        <p:spPr>
          <a:xfrm>
            <a:off x="8449056" y="4041648"/>
            <a:ext cx="2834640" cy="868680"/>
          </a:xfrm>
          <a:prstGeom prst="rect">
            <a:avLst/>
          </a:prstGeom>
          <a:noFill/>
          <a:ln/>
        </p:spPr>
        <p:txBody>
          <a:bodyPr wrap="square" lIns="0" tIns="0" rIns="0" bIns="0" rtlCol="0" anchor="t"/>
          <a:lstStyle/>
          <a:p>
            <a:pPr marL="0" indent="0">
              <a:lnSpc>
                <a:spcPct val="115000"/>
              </a:lnSpc>
              <a:buNone/>
            </a:pPr>
            <a:r>
              <a:rPr lang="en-US" sz="1350" dirty="0">
                <a:solidFill>
                  <a:srgbClr val="102A43"/>
                </a:solidFill>
                <a:latin typeface="Calibri" pitchFamily="34" charset="0"/>
                <a:ea typeface="Calibri" pitchFamily="34" charset="-122"/>
                <a:cs typeface="Calibri" pitchFamily="34" charset="-120"/>
              </a:rPr>
              <a:t>to run it 8 hours every weekday, drawing 280W at 13¢/kWh</a:t>
            </a:r>
            <a:endParaRPr lang="en-US" sz="1350" dirty="0"/>
          </a:p>
        </p:txBody>
      </p:sp>
      <p:sp>
        <p:nvSpPr>
          <p:cNvPr id="17" name="Text 14"/>
          <p:cNvSpPr/>
          <p:nvPr/>
        </p:nvSpPr>
        <p:spPr>
          <a:xfrm>
            <a:off x="8449056" y="4937760"/>
            <a:ext cx="2834640" cy="274320"/>
          </a:xfrm>
          <a:prstGeom prst="rect">
            <a:avLst/>
          </a:prstGeom>
          <a:noFill/>
          <a:ln/>
        </p:spPr>
        <p:txBody>
          <a:bodyPr wrap="square" lIns="0" tIns="0" rIns="0" bIns="0" rtlCol="0" anchor="ctr"/>
          <a:lstStyle/>
          <a:p>
            <a:pPr marL="0" indent="0">
              <a:buNone/>
            </a:pPr>
            <a:r>
              <a:rPr lang="en-US" sz="900" dirty="0">
                <a:solidFill>
                  <a:srgbClr val="55606C"/>
                </a:solidFill>
                <a:latin typeface="Calibri" pitchFamily="34" charset="0"/>
                <a:ea typeface="Calibri" pitchFamily="34" charset="-122"/>
                <a:cs typeface="Calibri" pitchFamily="34" charset="-120"/>
              </a:rPr>
              <a:t>Based on typical usage and average electricity rates </a:t>
            </a:r>
            <a:endParaRPr lang="en-US" sz="900" dirty="0"/>
          </a:p>
        </p:txBody>
      </p:sp>
      <p:sp>
        <p:nvSpPr>
          <p:cNvPr id="18" name="Text 15"/>
          <p:cNvSpPr/>
          <p:nvPr/>
        </p:nvSpPr>
        <p:spPr>
          <a:xfrm>
            <a:off x="640080" y="5623560"/>
            <a:ext cx="10515600" cy="365760"/>
          </a:xfrm>
          <a:prstGeom prst="rect">
            <a:avLst/>
          </a:prstGeom>
          <a:noFill/>
          <a:ln/>
        </p:spPr>
        <p:txBody>
          <a:bodyPr wrap="square" lIns="0" tIns="0" rIns="0" bIns="0" rtlCol="0" anchor="ctr"/>
          <a:lstStyle/>
          <a:p>
            <a:pPr marL="0" indent="0">
              <a:buNone/>
            </a:pPr>
            <a:r>
              <a:rPr lang="en-US" sz="1700" b="1" dirty="0">
                <a:solidFill>
                  <a:srgbClr val="102A43"/>
                </a:solidFill>
                <a:latin typeface="Cambria" pitchFamily="34" charset="0"/>
                <a:ea typeface="Cambria" pitchFamily="34" charset="-122"/>
                <a:cs typeface="Cambria" pitchFamily="34" charset="-120"/>
              </a:rPr>
              <a:t>That's the whole bill. No subscription, no per-seat fees, no surprises later.</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7EF"/>
        </a:solidFill>
        <a:effectLst/>
      </p:bgPr>
    </p:bg>
    <p:spTree>
      <p:nvGrpSpPr>
        <p:cNvPr id="1" name=""/>
        <p:cNvGrpSpPr/>
        <p:nvPr/>
      </p:nvGrpSpPr>
      <p:grpSpPr>
        <a:xfrm>
          <a:off x="0" y="0"/>
          <a:ext cx="0" cy="0"/>
          <a:chOff x="0" y="0"/>
          <a:chExt cx="0" cy="0"/>
        </a:xfrm>
      </p:grpSpPr>
      <p:pic>
        <p:nvPicPr>
          <p:cNvPr id="2" name="Image 0" descr="logo_ink.png"/>
          <p:cNvPicPr>
            <a:picLocks noChangeAspect="1"/>
          </p:cNvPicPr>
          <p:nvPr/>
        </p:nvPicPr>
        <p:blipFill>
          <a:blip r:embed="rId2"/>
          <a:stretch>
            <a:fillRect/>
          </a:stretch>
        </p:blipFill>
        <p:spPr>
          <a:xfrm>
            <a:off x="10893000" y="438912"/>
            <a:ext cx="525359" cy="420624"/>
          </a:xfrm>
          <a:prstGeom prst="rect">
            <a:avLst/>
          </a:prstGeom>
        </p:spPr>
      </p:pic>
      <p:sp>
        <p:nvSpPr>
          <p:cNvPr id="3" name="Text 0"/>
          <p:cNvSpPr/>
          <p:nvPr/>
        </p:nvSpPr>
        <p:spPr>
          <a:xfrm>
            <a:off x="640080" y="566928"/>
            <a:ext cx="10908792" cy="256032"/>
          </a:xfrm>
          <a:prstGeom prst="rect">
            <a:avLst/>
          </a:prstGeom>
          <a:noFill/>
          <a:ln/>
        </p:spPr>
        <p:txBody>
          <a:bodyPr wrap="square" lIns="0" tIns="0" rIns="0" bIns="0" rtlCol="0" anchor="ctr"/>
          <a:lstStyle/>
          <a:p>
            <a:pPr marL="0" indent="0">
              <a:buNone/>
            </a:pPr>
            <a:r>
              <a:rPr lang="en-US" sz="1100" b="1" kern="0" spc="300" dirty="0">
                <a:solidFill>
                  <a:srgbClr val="2F5F87"/>
                </a:solidFill>
                <a:latin typeface="Calibri" pitchFamily="34" charset="0"/>
                <a:ea typeface="Calibri" pitchFamily="34" charset="-122"/>
                <a:cs typeface="Calibri" pitchFamily="34" charset="-120"/>
              </a:rPr>
              <a:t>THE BOTTOM LINE</a:t>
            </a:r>
            <a:endParaRPr lang="en-US" sz="1100" dirty="0"/>
          </a:p>
        </p:txBody>
      </p:sp>
      <p:sp>
        <p:nvSpPr>
          <p:cNvPr id="4" name="Text 1"/>
          <p:cNvSpPr/>
          <p:nvPr/>
        </p:nvSpPr>
        <p:spPr>
          <a:xfrm>
            <a:off x="640080" y="960120"/>
            <a:ext cx="10908792" cy="731520"/>
          </a:xfrm>
          <a:prstGeom prst="rect">
            <a:avLst/>
          </a:prstGeom>
          <a:noFill/>
          <a:ln/>
        </p:spPr>
        <p:txBody>
          <a:bodyPr wrap="square" lIns="0" tIns="0" rIns="0" bIns="0" rtlCol="0" anchor="t"/>
          <a:lstStyle/>
          <a:p>
            <a:pPr marL="0" indent="0">
              <a:lnSpc>
                <a:spcPct val="102000"/>
              </a:lnSpc>
              <a:buNone/>
            </a:pPr>
            <a:r>
              <a:rPr lang="en-US" sz="3400" b="1" dirty="0">
                <a:solidFill>
                  <a:srgbClr val="102A43"/>
                </a:solidFill>
                <a:latin typeface="Cambria" pitchFamily="34" charset="0"/>
                <a:ea typeface="Cambria" pitchFamily="34" charset="-122"/>
                <a:cs typeface="Cambria" pitchFamily="34" charset="-120"/>
              </a:rPr>
              <a:t>Everything a private AI server gives your firm</a:t>
            </a:r>
            <a:endParaRPr lang="en-US" sz="3400" dirty="0"/>
          </a:p>
        </p:txBody>
      </p:sp>
      <p:sp>
        <p:nvSpPr>
          <p:cNvPr id="5" name="Text 2"/>
          <p:cNvSpPr/>
          <p:nvPr/>
        </p:nvSpPr>
        <p:spPr>
          <a:xfrm>
            <a:off x="640080" y="1783080"/>
            <a:ext cx="10515600" cy="365760"/>
          </a:xfrm>
          <a:prstGeom prst="rect">
            <a:avLst/>
          </a:prstGeom>
          <a:noFill/>
          <a:ln/>
        </p:spPr>
        <p:txBody>
          <a:bodyPr wrap="square" lIns="0" tIns="0" rIns="0" bIns="0" rtlCol="0" anchor="ctr"/>
          <a:lstStyle/>
          <a:p>
            <a:pPr marL="0" indent="0">
              <a:lnSpc>
                <a:spcPct val="115000"/>
              </a:lnSpc>
              <a:buNone/>
            </a:pPr>
            <a:r>
              <a:rPr lang="en-US" sz="1500" dirty="0">
                <a:solidFill>
                  <a:srgbClr val="55606C"/>
                </a:solidFill>
                <a:latin typeface="Calibri" pitchFamily="34" charset="0"/>
                <a:ea typeface="Calibri" pitchFamily="34" charset="-122"/>
                <a:cs typeface="Calibri" pitchFamily="34" charset="-120"/>
              </a:rPr>
              <a:t>All of it matters — but the one that matters most is that your clients' data never leaves your building.</a:t>
            </a:r>
            <a:endParaRPr lang="en-US" sz="1500" dirty="0"/>
          </a:p>
        </p:txBody>
      </p:sp>
      <p:sp>
        <p:nvSpPr>
          <p:cNvPr id="6" name="Shape6"/>
          <p:cNvSpPr/>
          <p:nvPr/>
        </p:nvSpPr>
        <p:spPr>
          <a:xfrm>
            <a:off x="640080" y="2331720"/>
            <a:ext cx="3383280" cy="1719072"/>
          </a:xfrm>
          <a:prstGeom prst="roundRect">
            <a:avLst>
              <a:gd name="adj" fmla="val 4255"/>
            </a:avLst>
          </a:prstGeom>
          <a:solidFill>
            <a:srgbClr val="FFFFFF"/>
          </a:solidFill>
          <a:ln w="9525">
            <a:solidFill>
              <a:srgbClr val="DDD8CB"/>
            </a:solidFill>
            <a:prstDash val="solid"/>
          </a:ln>
          <a:effectLst>
            <a:outerShdw blurRad="127000" dist="25400" dir="5400000" algn="bl" rotWithShape="0">
              <a:srgbClr val="000000">
                <a:alpha val="9000"/>
              </a:srgbClr>
            </a:outerShdw>
          </a:effectLst>
        </p:spPr>
      </p:sp>
      <p:pic>
        <p:nvPicPr>
          <p:cNvPr id="7" name="Icon7" descr="icon"/>
          <p:cNvPicPr>
            <a:picLocks noChangeAspect="1"/>
          </p:cNvPicPr>
          <p:nvPr/>
        </p:nvPicPr>
        <p:blipFill>
          <a:blip r:embed="rId3"/>
          <a:stretch>
            <a:fillRect/>
          </a:stretch>
        </p:blipFill>
        <p:spPr>
          <a:xfrm>
            <a:off x="914400" y="2587752"/>
            <a:ext cx="292608" cy="292608"/>
          </a:xfrm>
          <a:prstGeom prst="rect">
            <a:avLst/>
          </a:prstGeom>
        </p:spPr>
      </p:pic>
      <p:sp>
        <p:nvSpPr>
          <p:cNvPr id="8" name="Title8"/>
          <p:cNvSpPr/>
          <p:nvPr/>
        </p:nvSpPr>
        <p:spPr>
          <a:xfrm>
            <a:off x="914400" y="2953512"/>
            <a:ext cx="2834640" cy="320040"/>
          </a:xfrm>
          <a:prstGeom prst="rect">
            <a:avLst/>
          </a:prstGeom>
          <a:noFill/>
          <a:ln/>
        </p:spPr>
        <p:txBody>
          <a:bodyPr wrap="square" lIns="0" tIns="0" rIns="0" bIns="0" rtlCol="0" anchor="ctr"/>
          <a:lstStyle/>
          <a:p>
            <a:pPr marL="0" indent="0">
              <a:buNone/>
            </a:pPr>
            <a:r>
              <a:rPr lang="en-US" sz="1500" b="1" dirty="0">
                <a:solidFill>
                  <a:srgbClr val="102A43"/>
                </a:solidFill>
                <a:latin typeface="Cambria" pitchFamily="34" charset="0"/>
                <a:ea typeface="Cambria" pitchFamily="34" charset="-122"/>
                <a:cs typeface="Cambria" pitchFamily="34" charset="-120"/>
              </a:rPr>
              <a:t>Client data never leaves your walls</a:t>
            </a:r>
            <a:endParaRPr lang="en-US" sz="1500" dirty="0"/>
          </a:p>
        </p:txBody>
      </p:sp>
      <p:sp>
        <p:nvSpPr>
          <p:cNvPr id="9" name="Desc9"/>
          <p:cNvSpPr/>
          <p:nvPr/>
        </p:nvSpPr>
        <p:spPr>
          <a:xfrm>
            <a:off x="914400" y="3291840"/>
            <a:ext cx="2880360" cy="731520"/>
          </a:xfrm>
          <a:prstGeom prst="rect">
            <a:avLst/>
          </a:prstGeom>
          <a:noFill/>
          <a:ln/>
        </p:spPr>
        <p:txBody>
          <a:bodyPr wrap="square" lIns="0" tIns="0" rIns="0" bIns="0" rtlCol="0" anchor="ctr"/>
          <a:lstStyle/>
          <a:p>
            <a:pPr marL="0" indent="0">
              <a:lnSpc>
                <a:spcPct val="112000"/>
              </a:lnSpc>
              <a:buNone/>
            </a:pPr>
            <a:r>
              <a:rPr lang="en-US" sz="1150" dirty="0">
                <a:solidFill>
                  <a:srgbClr val="55606C"/>
                </a:solidFill>
                <a:latin typeface="Calibri" pitchFamily="34" charset="0"/>
                <a:ea typeface="Calibri" pitchFamily="34" charset="-122"/>
                <a:cs typeface="Calibri" pitchFamily="34" charset="-120"/>
              </a:rPr>
              <a:t>The model, the files, and every chat happen on hardware you own. No vendor sees a prompt, a document, or a query log.</a:t>
            </a:r>
            <a:endParaRPr lang="en-US" sz="1150" dirty="0"/>
          </a:p>
        </p:txBody>
      </p:sp>
      <p:sp>
        <p:nvSpPr>
          <p:cNvPr id="10" name="Shape10"/>
          <p:cNvSpPr/>
          <p:nvPr/>
        </p:nvSpPr>
        <p:spPr>
          <a:xfrm>
            <a:off x="4407408" y="2331720"/>
            <a:ext cx="3383280" cy="1719072"/>
          </a:xfrm>
          <a:prstGeom prst="roundRect">
            <a:avLst>
              <a:gd name="adj" fmla="val 4255"/>
            </a:avLst>
          </a:prstGeom>
          <a:solidFill>
            <a:srgbClr val="FFFFFF"/>
          </a:solidFill>
          <a:ln w="9525">
            <a:solidFill>
              <a:srgbClr val="DDD8CB"/>
            </a:solidFill>
            <a:prstDash val="solid"/>
          </a:ln>
          <a:effectLst>
            <a:outerShdw blurRad="127000" dist="25400" dir="5400000" algn="bl" rotWithShape="0">
              <a:srgbClr val="000000">
                <a:alpha val="9000"/>
              </a:srgbClr>
            </a:outerShdw>
          </a:effectLst>
        </p:spPr>
      </p:sp>
      <p:pic>
        <p:nvPicPr>
          <p:cNvPr id="11" name="Icon11" descr="icon"/>
          <p:cNvPicPr>
            <a:picLocks noChangeAspect="1"/>
          </p:cNvPicPr>
          <p:nvPr/>
        </p:nvPicPr>
        <p:blipFill>
          <a:blip r:embed="rId4"/>
          <a:stretch>
            <a:fillRect/>
          </a:stretch>
        </p:blipFill>
        <p:spPr>
          <a:xfrm>
            <a:off x="4681728" y="2587752"/>
            <a:ext cx="292608" cy="292608"/>
          </a:xfrm>
          <a:prstGeom prst="rect">
            <a:avLst/>
          </a:prstGeom>
        </p:spPr>
      </p:pic>
      <p:sp>
        <p:nvSpPr>
          <p:cNvPr id="12" name="Title12"/>
          <p:cNvSpPr/>
          <p:nvPr/>
        </p:nvSpPr>
        <p:spPr>
          <a:xfrm>
            <a:off x="4681728" y="2953512"/>
            <a:ext cx="2834640" cy="320040"/>
          </a:xfrm>
          <a:prstGeom prst="rect">
            <a:avLst/>
          </a:prstGeom>
          <a:noFill/>
          <a:ln/>
        </p:spPr>
        <p:txBody>
          <a:bodyPr wrap="square" lIns="0" tIns="0" rIns="0" bIns="0" rtlCol="0" anchor="ctr"/>
          <a:lstStyle/>
          <a:p>
            <a:pPr marL="0" indent="0">
              <a:buNone/>
            </a:pPr>
            <a:r>
              <a:rPr lang="en-US" sz="1500" b="1" dirty="0">
                <a:solidFill>
                  <a:srgbClr val="102A43"/>
                </a:solidFill>
                <a:latin typeface="Cambria" pitchFamily="34" charset="0"/>
                <a:ea typeface="Cambria" pitchFamily="34" charset="-122"/>
                <a:cs typeface="Cambria" pitchFamily="34" charset="-120"/>
              </a:rPr>
              <a:t>You own the hardware, not a subscription</a:t>
            </a:r>
            <a:endParaRPr lang="en-US" sz="1500" dirty="0"/>
          </a:p>
        </p:txBody>
      </p:sp>
      <p:sp>
        <p:nvSpPr>
          <p:cNvPr id="13" name="Desc13"/>
          <p:cNvSpPr/>
          <p:nvPr/>
        </p:nvSpPr>
        <p:spPr>
          <a:xfrm>
            <a:off x="4681728" y="3291840"/>
            <a:ext cx="2880360" cy="731520"/>
          </a:xfrm>
          <a:prstGeom prst="rect">
            <a:avLst/>
          </a:prstGeom>
          <a:noFill/>
          <a:ln/>
        </p:spPr>
        <p:txBody>
          <a:bodyPr wrap="square" lIns="0" tIns="0" rIns="0" bIns="0" rtlCol="0" anchor="ctr"/>
          <a:lstStyle/>
          <a:p>
            <a:pPr marL="0" indent="0">
              <a:lnSpc>
                <a:spcPct val="112000"/>
              </a:lnSpc>
              <a:buNone/>
            </a:pPr>
            <a:r>
              <a:rPr lang="en-US" sz="1150" dirty="0">
                <a:solidFill>
                  <a:srgbClr val="55606C"/>
                </a:solidFill>
                <a:latin typeface="Calibri" pitchFamily="34" charset="0"/>
                <a:ea typeface="Calibri" pitchFamily="34" charset="-122"/>
                <a:cs typeface="Calibri" pitchFamily="34" charset="-120"/>
              </a:rPr>
              <a:t>The server is yours outright. No per-seat fees, no usage caps, and no license that can be revoked.</a:t>
            </a:r>
            <a:endParaRPr lang="en-US" sz="1150" dirty="0"/>
          </a:p>
        </p:txBody>
      </p:sp>
      <p:sp>
        <p:nvSpPr>
          <p:cNvPr id="14" name="Shape14"/>
          <p:cNvSpPr/>
          <p:nvPr/>
        </p:nvSpPr>
        <p:spPr>
          <a:xfrm>
            <a:off x="8174736" y="2331720"/>
            <a:ext cx="3383280" cy="1719072"/>
          </a:xfrm>
          <a:prstGeom prst="roundRect">
            <a:avLst>
              <a:gd name="adj" fmla="val 4255"/>
            </a:avLst>
          </a:prstGeom>
          <a:solidFill>
            <a:srgbClr val="FFFFFF"/>
          </a:solidFill>
          <a:ln w="9525">
            <a:solidFill>
              <a:srgbClr val="DDD8CB"/>
            </a:solidFill>
            <a:prstDash val="solid"/>
          </a:ln>
          <a:effectLst>
            <a:outerShdw blurRad="127000" dist="25400" dir="5400000" algn="bl" rotWithShape="0">
              <a:srgbClr val="000000">
                <a:alpha val="9000"/>
              </a:srgbClr>
            </a:outerShdw>
          </a:effectLst>
        </p:spPr>
      </p:sp>
      <p:pic>
        <p:nvPicPr>
          <p:cNvPr id="15" name="Icon15" descr="icon"/>
          <p:cNvPicPr>
            <a:picLocks noChangeAspect="1"/>
          </p:cNvPicPr>
          <p:nvPr/>
        </p:nvPicPr>
        <p:blipFill>
          <a:blip r:embed="rId5"/>
          <a:stretch>
            <a:fillRect/>
          </a:stretch>
        </p:blipFill>
        <p:spPr>
          <a:xfrm>
            <a:off x="8449056" y="2587752"/>
            <a:ext cx="292608" cy="292608"/>
          </a:xfrm>
          <a:prstGeom prst="rect">
            <a:avLst/>
          </a:prstGeom>
        </p:spPr>
      </p:pic>
      <p:sp>
        <p:nvSpPr>
          <p:cNvPr id="16" name="Title16"/>
          <p:cNvSpPr/>
          <p:nvPr/>
        </p:nvSpPr>
        <p:spPr>
          <a:xfrm>
            <a:off x="8449056" y="2953512"/>
            <a:ext cx="2834640" cy="320040"/>
          </a:xfrm>
          <a:prstGeom prst="rect">
            <a:avLst/>
          </a:prstGeom>
          <a:noFill/>
          <a:ln/>
        </p:spPr>
        <p:txBody>
          <a:bodyPr wrap="square" lIns="0" tIns="0" rIns="0" bIns="0" rtlCol="0" anchor="ctr"/>
          <a:lstStyle/>
          <a:p>
            <a:pPr marL="0" indent="0">
              <a:buNone/>
            </a:pPr>
            <a:r>
              <a:rPr lang="en-US" sz="1500" b="1" dirty="0">
                <a:solidFill>
                  <a:srgbClr val="102A43"/>
                </a:solidFill>
                <a:latin typeface="Cambria" pitchFamily="34" charset="0"/>
                <a:ea typeface="Cambria" pitchFamily="34" charset="-122"/>
                <a:cs typeface="Cambria" pitchFamily="34" charset="-120"/>
              </a:rPr>
              <a:t>One flat setup fee, then almost nothing</a:t>
            </a:r>
            <a:endParaRPr lang="en-US" sz="1500" dirty="0"/>
          </a:p>
        </p:txBody>
      </p:sp>
      <p:sp>
        <p:nvSpPr>
          <p:cNvPr id="17" name="Desc17"/>
          <p:cNvSpPr/>
          <p:nvPr/>
        </p:nvSpPr>
        <p:spPr>
          <a:xfrm>
            <a:off x="8449056" y="3291840"/>
            <a:ext cx="2880360" cy="731520"/>
          </a:xfrm>
          <a:prstGeom prst="rect">
            <a:avLst/>
          </a:prstGeom>
          <a:noFill/>
          <a:ln/>
        </p:spPr>
        <p:txBody>
          <a:bodyPr wrap="square" lIns="0" tIns="0" rIns="0" bIns="0" rtlCol="0" anchor="ctr"/>
          <a:lstStyle/>
          <a:p>
            <a:pPr marL="0" indent="0">
              <a:lnSpc>
                <a:spcPct val="112000"/>
              </a:lnSpc>
              <a:buNone/>
            </a:pPr>
            <a:r>
              <a:rPr lang="en-US" sz="1150" dirty="0">
                <a:solidFill>
                  <a:srgbClr val="55606C"/>
                </a:solidFill>
                <a:latin typeface="Calibri" pitchFamily="34" charset="0"/>
                <a:ea typeface="Calibri" pitchFamily="34" charset="-122"/>
                <a:cs typeface="Calibri" pitchFamily="34" charset="-120"/>
              </a:rPr>
              <a:t>A one-time build cost and a few dollars a month in electricity. </a:t>
            </a:r>
            <a:endParaRPr lang="en-US" sz="1150" dirty="0"/>
          </a:p>
        </p:txBody>
      </p:sp>
      <p:sp>
        <p:nvSpPr>
          <p:cNvPr id="18" name="Shape18"/>
          <p:cNvSpPr/>
          <p:nvPr/>
        </p:nvSpPr>
        <p:spPr>
          <a:xfrm>
            <a:off x="640080" y="4206240"/>
            <a:ext cx="3383280" cy="1719072"/>
          </a:xfrm>
          <a:prstGeom prst="roundRect">
            <a:avLst>
              <a:gd name="adj" fmla="val 4255"/>
            </a:avLst>
          </a:prstGeom>
          <a:solidFill>
            <a:srgbClr val="FFFFFF"/>
          </a:solidFill>
          <a:ln w="9525">
            <a:solidFill>
              <a:srgbClr val="DDD8CB"/>
            </a:solidFill>
            <a:prstDash val="solid"/>
          </a:ln>
          <a:effectLst>
            <a:outerShdw blurRad="127000" dist="25400" dir="5400000" algn="bl" rotWithShape="0">
              <a:srgbClr val="000000">
                <a:alpha val="9000"/>
              </a:srgbClr>
            </a:outerShdw>
          </a:effectLst>
        </p:spPr>
      </p:sp>
      <p:pic>
        <p:nvPicPr>
          <p:cNvPr id="19" name="Icon19" descr="icon"/>
          <p:cNvPicPr>
            <a:picLocks noChangeAspect="1"/>
          </p:cNvPicPr>
          <p:nvPr/>
        </p:nvPicPr>
        <p:blipFill>
          <a:blip r:embed="rId6"/>
          <a:stretch>
            <a:fillRect/>
          </a:stretch>
        </p:blipFill>
        <p:spPr>
          <a:xfrm>
            <a:off x="914400" y="4462272"/>
            <a:ext cx="292608" cy="292608"/>
          </a:xfrm>
          <a:prstGeom prst="rect">
            <a:avLst/>
          </a:prstGeom>
        </p:spPr>
      </p:pic>
      <p:sp>
        <p:nvSpPr>
          <p:cNvPr id="20" name="Title20"/>
          <p:cNvSpPr/>
          <p:nvPr/>
        </p:nvSpPr>
        <p:spPr>
          <a:xfrm>
            <a:off x="914400" y="4828032"/>
            <a:ext cx="2834640" cy="320040"/>
          </a:xfrm>
          <a:prstGeom prst="rect">
            <a:avLst/>
          </a:prstGeom>
          <a:noFill/>
          <a:ln/>
        </p:spPr>
        <p:txBody>
          <a:bodyPr wrap="square" lIns="0" tIns="0" rIns="0" bIns="0" rtlCol="0" anchor="ctr"/>
          <a:lstStyle/>
          <a:p>
            <a:pPr marL="0" indent="0">
              <a:buNone/>
            </a:pPr>
            <a:r>
              <a:rPr lang="en-US" sz="1500" b="1" dirty="0">
                <a:solidFill>
                  <a:srgbClr val="102A43"/>
                </a:solidFill>
                <a:latin typeface="Cambria" pitchFamily="34" charset="0"/>
                <a:ea typeface="Cambria" pitchFamily="34" charset="-122"/>
                <a:cs typeface="Cambria" pitchFamily="34" charset="-120"/>
              </a:rPr>
              <a:t>Looks like the tool they already use</a:t>
            </a:r>
            <a:endParaRPr lang="en-US" sz="1500" dirty="0"/>
          </a:p>
        </p:txBody>
      </p:sp>
      <p:sp>
        <p:nvSpPr>
          <p:cNvPr id="21" name="Desc21"/>
          <p:cNvSpPr/>
          <p:nvPr/>
        </p:nvSpPr>
        <p:spPr>
          <a:xfrm>
            <a:off x="914400" y="5166360"/>
            <a:ext cx="2880360" cy="731520"/>
          </a:xfrm>
          <a:prstGeom prst="rect">
            <a:avLst/>
          </a:prstGeom>
          <a:noFill/>
          <a:ln/>
        </p:spPr>
        <p:txBody>
          <a:bodyPr wrap="square" lIns="0" tIns="0" rIns="0" bIns="0" rtlCol="0" anchor="ctr"/>
          <a:lstStyle/>
          <a:p>
            <a:pPr marL="0" indent="0">
              <a:lnSpc>
                <a:spcPct val="112000"/>
              </a:lnSpc>
              <a:buNone/>
            </a:pPr>
            <a:r>
              <a:rPr lang="en-US" sz="1150" dirty="0">
                <a:solidFill>
                  <a:srgbClr val="55606C"/>
                </a:solidFill>
                <a:latin typeface="Calibri" pitchFamily="34" charset="0"/>
                <a:ea typeface="Calibri" pitchFamily="34" charset="-122"/>
                <a:cs typeface="Calibri" pitchFamily="34" charset="-120"/>
              </a:rPr>
              <a:t>A chat interface your team already understands, so there's nothing new to teach.</a:t>
            </a:r>
            <a:endParaRPr lang="en-US" sz="1150" dirty="0"/>
          </a:p>
        </p:txBody>
      </p:sp>
      <p:sp>
        <p:nvSpPr>
          <p:cNvPr id="22" name="Shape22"/>
          <p:cNvSpPr/>
          <p:nvPr/>
        </p:nvSpPr>
        <p:spPr>
          <a:xfrm>
            <a:off x="4407408" y="4206240"/>
            <a:ext cx="3383280" cy="1719072"/>
          </a:xfrm>
          <a:prstGeom prst="roundRect">
            <a:avLst>
              <a:gd name="adj" fmla="val 4255"/>
            </a:avLst>
          </a:prstGeom>
          <a:solidFill>
            <a:srgbClr val="FFFFFF"/>
          </a:solidFill>
          <a:ln w="9525">
            <a:solidFill>
              <a:srgbClr val="DDD8CB"/>
            </a:solidFill>
            <a:prstDash val="solid"/>
          </a:ln>
          <a:effectLst>
            <a:outerShdw blurRad="127000" dist="25400" dir="5400000" algn="bl" rotWithShape="0">
              <a:srgbClr val="000000">
                <a:alpha val="9000"/>
              </a:srgbClr>
            </a:outerShdw>
          </a:effectLst>
        </p:spPr>
      </p:sp>
      <p:pic>
        <p:nvPicPr>
          <p:cNvPr id="23" name="Icon23" descr="icon"/>
          <p:cNvPicPr>
            <a:picLocks noChangeAspect="1"/>
          </p:cNvPicPr>
          <p:nvPr/>
        </p:nvPicPr>
        <p:blipFill>
          <a:blip r:embed="rId7"/>
          <a:stretch>
            <a:fillRect/>
          </a:stretch>
        </p:blipFill>
        <p:spPr>
          <a:xfrm>
            <a:off x="4681728" y="4462272"/>
            <a:ext cx="292608" cy="292608"/>
          </a:xfrm>
          <a:prstGeom prst="rect">
            <a:avLst/>
          </a:prstGeom>
        </p:spPr>
      </p:pic>
      <p:sp>
        <p:nvSpPr>
          <p:cNvPr id="24" name="Title24"/>
          <p:cNvSpPr/>
          <p:nvPr/>
        </p:nvSpPr>
        <p:spPr>
          <a:xfrm>
            <a:off x="4681728" y="4828032"/>
            <a:ext cx="2834640" cy="320040"/>
          </a:xfrm>
          <a:prstGeom prst="rect">
            <a:avLst/>
          </a:prstGeom>
          <a:noFill/>
          <a:ln/>
        </p:spPr>
        <p:txBody>
          <a:bodyPr wrap="square" lIns="0" tIns="0" rIns="0" bIns="0" rtlCol="0" anchor="ctr"/>
          <a:lstStyle/>
          <a:p>
            <a:pPr marL="0" indent="0">
              <a:buNone/>
            </a:pPr>
            <a:r>
              <a:rPr lang="en-US" sz="1500" b="1" dirty="0">
                <a:solidFill>
                  <a:srgbClr val="102A43"/>
                </a:solidFill>
                <a:latin typeface="Cambria" pitchFamily="34" charset="0"/>
                <a:ea typeface="Cambria" pitchFamily="34" charset="-122"/>
                <a:cs typeface="Cambria" pitchFamily="34" charset="-120"/>
              </a:rPr>
              <a:t>Configured to how you actually work</a:t>
            </a:r>
            <a:endParaRPr lang="en-US" sz="1500" dirty="0"/>
          </a:p>
        </p:txBody>
      </p:sp>
      <p:sp>
        <p:nvSpPr>
          <p:cNvPr id="25" name="Desc25"/>
          <p:cNvSpPr/>
          <p:nvPr/>
        </p:nvSpPr>
        <p:spPr>
          <a:xfrm>
            <a:off x="4681728" y="5166360"/>
            <a:ext cx="2880360" cy="731520"/>
          </a:xfrm>
          <a:prstGeom prst="rect">
            <a:avLst/>
          </a:prstGeom>
          <a:noFill/>
          <a:ln/>
        </p:spPr>
        <p:txBody>
          <a:bodyPr wrap="square" lIns="0" tIns="0" rIns="0" bIns="0" rtlCol="0" anchor="ctr"/>
          <a:lstStyle/>
          <a:p>
            <a:pPr marL="0" indent="0">
              <a:lnSpc>
                <a:spcPct val="112000"/>
              </a:lnSpc>
              <a:buNone/>
            </a:pPr>
            <a:r>
              <a:rPr lang="en-US" sz="1150" dirty="0">
                <a:solidFill>
                  <a:srgbClr val="55606C"/>
                </a:solidFill>
                <a:latin typeface="Calibri" pitchFamily="34" charset="0"/>
                <a:ea typeface="Calibri" pitchFamily="34" charset="-122"/>
                <a:cs typeface="Calibri" pitchFamily="34" charset="-120"/>
              </a:rPr>
              <a:t>Groups, permissions, and retention rules set up around your practice.</a:t>
            </a:r>
            <a:endParaRPr lang="en-US" sz="1150" dirty="0"/>
          </a:p>
        </p:txBody>
      </p:sp>
      <p:sp>
        <p:nvSpPr>
          <p:cNvPr id="26" name="Shape26"/>
          <p:cNvSpPr/>
          <p:nvPr/>
        </p:nvSpPr>
        <p:spPr>
          <a:xfrm>
            <a:off x="8174736" y="4206240"/>
            <a:ext cx="3383280" cy="1719072"/>
          </a:xfrm>
          <a:prstGeom prst="roundRect">
            <a:avLst>
              <a:gd name="adj" fmla="val 4255"/>
            </a:avLst>
          </a:prstGeom>
          <a:solidFill>
            <a:srgbClr val="FFFFFF"/>
          </a:solidFill>
          <a:ln w="9525">
            <a:solidFill>
              <a:srgbClr val="DDD8CB"/>
            </a:solidFill>
            <a:prstDash val="solid"/>
          </a:ln>
          <a:effectLst>
            <a:outerShdw blurRad="127000" dist="25400" dir="5400000" algn="bl" rotWithShape="0">
              <a:srgbClr val="000000">
                <a:alpha val="9000"/>
              </a:srgbClr>
            </a:outerShdw>
          </a:effectLst>
        </p:spPr>
      </p:sp>
      <p:pic>
        <p:nvPicPr>
          <p:cNvPr id="27" name="Icon27" descr="icon"/>
          <p:cNvPicPr>
            <a:picLocks noChangeAspect="1"/>
          </p:cNvPicPr>
          <p:nvPr/>
        </p:nvPicPr>
        <p:blipFill>
          <a:blip r:embed="rId8"/>
          <a:stretch>
            <a:fillRect/>
          </a:stretch>
        </p:blipFill>
        <p:spPr>
          <a:xfrm>
            <a:off x="8449056" y="4462272"/>
            <a:ext cx="292608" cy="292608"/>
          </a:xfrm>
          <a:prstGeom prst="rect">
            <a:avLst/>
          </a:prstGeom>
        </p:spPr>
      </p:pic>
      <p:sp>
        <p:nvSpPr>
          <p:cNvPr id="28" name="Title28"/>
          <p:cNvSpPr/>
          <p:nvPr/>
        </p:nvSpPr>
        <p:spPr>
          <a:xfrm>
            <a:off x="8449056" y="4828032"/>
            <a:ext cx="2834640" cy="320040"/>
          </a:xfrm>
          <a:prstGeom prst="rect">
            <a:avLst/>
          </a:prstGeom>
          <a:noFill/>
          <a:ln/>
        </p:spPr>
        <p:txBody>
          <a:bodyPr wrap="square" lIns="0" tIns="0" rIns="0" bIns="0" rtlCol="0" anchor="ctr"/>
          <a:lstStyle/>
          <a:p>
            <a:pPr marL="0" indent="0">
              <a:buNone/>
            </a:pPr>
            <a:r>
              <a:rPr lang="en-US" sz="1500" b="1" dirty="0">
                <a:solidFill>
                  <a:srgbClr val="102A43"/>
                </a:solidFill>
                <a:latin typeface="Cambria" pitchFamily="34" charset="0"/>
                <a:ea typeface="Cambria" pitchFamily="34" charset="-122"/>
                <a:cs typeface="Cambria" pitchFamily="34" charset="-120"/>
              </a:rPr>
              <a:t>Installed, trained, and supported</a:t>
            </a:r>
            <a:endParaRPr lang="en-US" sz="1500" dirty="0"/>
          </a:p>
        </p:txBody>
      </p:sp>
      <p:sp>
        <p:nvSpPr>
          <p:cNvPr id="29" name="Desc29"/>
          <p:cNvSpPr/>
          <p:nvPr/>
        </p:nvSpPr>
        <p:spPr>
          <a:xfrm>
            <a:off x="8449056" y="5166360"/>
            <a:ext cx="2880360" cy="731520"/>
          </a:xfrm>
          <a:prstGeom prst="rect">
            <a:avLst/>
          </a:prstGeom>
          <a:noFill/>
          <a:ln/>
        </p:spPr>
        <p:txBody>
          <a:bodyPr wrap="square" lIns="0" tIns="0" rIns="0" bIns="0" rtlCol="0" anchor="ctr"/>
          <a:lstStyle/>
          <a:p>
            <a:pPr marL="0" indent="0">
              <a:lnSpc>
                <a:spcPct val="112000"/>
              </a:lnSpc>
              <a:buNone/>
            </a:pPr>
            <a:r>
              <a:rPr lang="en-US" sz="1150" dirty="0">
                <a:solidFill>
                  <a:srgbClr val="55606C"/>
                </a:solidFill>
                <a:latin typeface="Calibri" pitchFamily="34" charset="0"/>
                <a:ea typeface="Calibri" pitchFamily="34" charset="-122"/>
                <a:cs typeface="Calibri" pitchFamily="34" charset="-120"/>
              </a:rPr>
              <a:t>We handle setup, staff training, </a:t>
            </a:r>
            <a:r>
              <a:rPr lang="en-US" sz="1150">
                <a:solidFill>
                  <a:srgbClr val="55606C"/>
                </a:solidFill>
                <a:latin typeface="Calibri" pitchFamily="34" charset="0"/>
                <a:ea typeface="Calibri" pitchFamily="34" charset="-122"/>
                <a:cs typeface="Calibri" pitchFamily="34" charset="-120"/>
              </a:rPr>
              <a:t>and hand-off. </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771</TotalTime>
  <Words>1541</Words>
  <Application>Microsoft Office PowerPoint</Application>
  <PresentationFormat>Widescreen</PresentationFormat>
  <Paragraphs>153</Paragraphs>
  <Slides>12</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Arcus Mons — Private AI Servers for Small Firms</dc:title>
  <dc:subject>PptxGenJS Presentation</dc:subject>
  <dc:creator>Arcus Mons</dc:creator>
  <cp:lastModifiedBy>Nicholas</cp:lastModifiedBy>
  <cp:revision>17</cp:revision>
  <dcterms:created xsi:type="dcterms:W3CDTF">2026-08-15T19:27:43Z</dcterms:created>
  <dcterms:modified xsi:type="dcterms:W3CDTF">2026-08-28T02:08:03Z</dcterms:modified>
</cp:coreProperties>
</file>